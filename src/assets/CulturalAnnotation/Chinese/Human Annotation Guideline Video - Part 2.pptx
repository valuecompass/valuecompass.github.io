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2" r:id="rId2"/>
    <p:sldId id="263" r:id="rId3"/>
    <p:sldId id="272" r:id="rId4"/>
    <p:sldId id="280" r:id="rId5"/>
    <p:sldId id="281" r:id="rId6"/>
    <p:sldId id="282" r:id="rId7"/>
    <p:sldId id="283" r:id="rId8"/>
    <p:sldId id="285" r:id="rId9"/>
    <p:sldId id="28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notation Workflow" id="{FF59B385-D68B-44AA-9E2B-4A900E8DD3E3}">
          <p14:sldIdLst>
            <p14:sldId id="262"/>
            <p14:sldId id="263"/>
            <p14:sldId id="272"/>
            <p14:sldId id="280"/>
            <p14:sldId id="281"/>
            <p14:sldId id="282"/>
            <p14:sldId id="283"/>
            <p14:sldId id="285"/>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8D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59AB83-9096-4034-8B5D-40D729A08352}" v="32" dt="2026-05-28T03:48:50.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25" autoAdjust="0"/>
    <p:restoredTop sz="96005" autoAdjust="0"/>
  </p:normalViewPr>
  <p:slideViewPr>
    <p:cSldViewPr snapToGrid="0">
      <p:cViewPr>
        <p:scale>
          <a:sx n="66" d="100"/>
          <a:sy n="66" d="100"/>
        </p:scale>
        <p:origin x="2736" y="91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ng Yao" userId="091c40ea-68b6-499e-bae2-99a7feffaccc" providerId="ADAL" clId="{5E772298-76B7-458D-A4DD-0CE458436BF0}"/>
    <pc:docChg chg="undo redo custSel addSld delSld modSld sldOrd addSection modSection">
      <pc:chgData name="Jing Yao" userId="091c40ea-68b6-499e-bae2-99a7feffaccc" providerId="ADAL" clId="{5E772298-76B7-458D-A4DD-0CE458436BF0}" dt="2026-05-28T03:49:33.160" v="5446" actId="113"/>
      <pc:docMkLst>
        <pc:docMk/>
      </pc:docMkLst>
      <pc:sldChg chg="addSp delSp modSp mod modNotesTx">
        <pc:chgData name="Jing Yao" userId="091c40ea-68b6-499e-bae2-99a7feffaccc" providerId="ADAL" clId="{5E772298-76B7-458D-A4DD-0CE458436BF0}" dt="2026-05-28T03:39:34.855" v="5272" actId="14100"/>
        <pc:sldMkLst>
          <pc:docMk/>
          <pc:sldMk cId="1049761198" sldId="262"/>
        </pc:sldMkLst>
        <pc:spChg chg="add mod">
          <ac:chgData name="Jing Yao" userId="091c40ea-68b6-499e-bae2-99a7feffaccc" providerId="ADAL" clId="{5E772298-76B7-458D-A4DD-0CE458436BF0}" dt="2026-05-28T03:39:34.855" v="5272" actId="14100"/>
          <ac:spMkLst>
            <pc:docMk/>
            <pc:sldMk cId="1049761198" sldId="262"/>
            <ac:spMk id="2" creationId="{0D918F1A-170B-F583-8B2D-6DC7D374D95F}"/>
          </ac:spMkLst>
        </pc:spChg>
      </pc:sldChg>
      <pc:sldChg chg="addSp delSp modSp mod">
        <pc:chgData name="Jing Yao" userId="091c40ea-68b6-499e-bae2-99a7feffaccc" providerId="ADAL" clId="{5E772298-76B7-458D-A4DD-0CE458436BF0}" dt="2026-05-28T03:41:50.959" v="5294" actId="20577"/>
        <pc:sldMkLst>
          <pc:docMk/>
          <pc:sldMk cId="2111392572" sldId="263"/>
        </pc:sldMkLst>
        <pc:spChg chg="del mod">
          <ac:chgData name="Jing Yao" userId="091c40ea-68b6-499e-bae2-99a7feffaccc" providerId="ADAL" clId="{5E772298-76B7-458D-A4DD-0CE458436BF0}" dt="2026-05-28T03:41:03.266" v="5285" actId="478"/>
          <ac:spMkLst>
            <pc:docMk/>
            <pc:sldMk cId="2111392572" sldId="263"/>
            <ac:spMk id="3" creationId="{9BB9305F-75B6-67FF-68CB-E43269084F66}"/>
          </ac:spMkLst>
        </pc:spChg>
        <pc:spChg chg="add mod">
          <ac:chgData name="Jing Yao" userId="091c40ea-68b6-499e-bae2-99a7feffaccc" providerId="ADAL" clId="{5E772298-76B7-458D-A4DD-0CE458436BF0}" dt="2026-05-28T03:41:50.959" v="5294" actId="20577"/>
          <ac:spMkLst>
            <pc:docMk/>
            <pc:sldMk cId="2111392572" sldId="263"/>
            <ac:spMk id="4" creationId="{CF191D91-C8D9-1A69-9408-F8E56405A41D}"/>
          </ac:spMkLst>
        </pc:spChg>
      </pc:sldChg>
      <pc:sldChg chg="addSp delSp modSp mod">
        <pc:chgData name="Jing Yao" userId="091c40ea-68b6-499e-bae2-99a7feffaccc" providerId="ADAL" clId="{5E772298-76B7-458D-A4DD-0CE458436BF0}" dt="2026-05-28T03:43:40.015" v="5339" actId="478"/>
        <pc:sldMkLst>
          <pc:docMk/>
          <pc:sldMk cId="1116761022" sldId="272"/>
        </pc:sldMkLst>
        <pc:spChg chg="del mod">
          <ac:chgData name="Jing Yao" userId="091c40ea-68b6-499e-bae2-99a7feffaccc" providerId="ADAL" clId="{5E772298-76B7-458D-A4DD-0CE458436BF0}" dt="2026-05-28T03:43:40.015" v="5339" actId="478"/>
          <ac:spMkLst>
            <pc:docMk/>
            <pc:sldMk cId="1116761022" sldId="272"/>
            <ac:spMk id="3" creationId="{F38856E2-6A75-9979-EA4C-730E46581AF3}"/>
          </ac:spMkLst>
        </pc:spChg>
        <pc:spChg chg="add mod">
          <ac:chgData name="Jing Yao" userId="091c40ea-68b6-499e-bae2-99a7feffaccc" providerId="ADAL" clId="{5E772298-76B7-458D-A4DD-0CE458436BF0}" dt="2026-05-28T03:43:31.308" v="5338" actId="20577"/>
          <ac:spMkLst>
            <pc:docMk/>
            <pc:sldMk cId="1116761022" sldId="272"/>
            <ac:spMk id="4" creationId="{4E19D6E7-DE1B-17FC-5E73-C67F4D6A05EF}"/>
          </ac:spMkLst>
        </pc:spChg>
        <pc:spChg chg="del mod">
          <ac:chgData name="Jing Yao" userId="091c40ea-68b6-499e-bae2-99a7feffaccc" providerId="ADAL" clId="{5E772298-76B7-458D-A4DD-0CE458436BF0}" dt="2026-05-28T03:43:40.015" v="5339" actId="478"/>
          <ac:spMkLst>
            <pc:docMk/>
            <pc:sldMk cId="1116761022" sldId="272"/>
            <ac:spMk id="5" creationId="{B23AFD02-8CA4-3ACF-0B5A-0A983A8C9D51}"/>
          </ac:spMkLst>
        </pc:spChg>
      </pc:sldChg>
      <pc:sldChg chg="addSp delSp modSp mod">
        <pc:chgData name="Jing Yao" userId="091c40ea-68b6-499e-bae2-99a7feffaccc" providerId="ADAL" clId="{5E772298-76B7-458D-A4DD-0CE458436BF0}" dt="2026-05-28T03:44:46.054" v="5349" actId="478"/>
        <pc:sldMkLst>
          <pc:docMk/>
          <pc:sldMk cId="52071992" sldId="280"/>
        </pc:sldMkLst>
        <pc:spChg chg="add mod">
          <ac:chgData name="Jing Yao" userId="091c40ea-68b6-499e-bae2-99a7feffaccc" providerId="ADAL" clId="{5E772298-76B7-458D-A4DD-0CE458436BF0}" dt="2026-05-28T03:44:39.663" v="5348" actId="15"/>
          <ac:spMkLst>
            <pc:docMk/>
            <pc:sldMk cId="52071992" sldId="280"/>
            <ac:spMk id="3" creationId="{4D6AB659-6FBD-EB01-07E8-80E72131EF21}"/>
          </ac:spMkLst>
        </pc:spChg>
        <pc:spChg chg="del mod">
          <ac:chgData name="Jing Yao" userId="091c40ea-68b6-499e-bae2-99a7feffaccc" providerId="ADAL" clId="{5E772298-76B7-458D-A4DD-0CE458436BF0}" dt="2026-05-28T03:44:46.054" v="5349" actId="478"/>
          <ac:spMkLst>
            <pc:docMk/>
            <pc:sldMk cId="52071992" sldId="280"/>
            <ac:spMk id="5" creationId="{84301A4D-0C6A-1A35-6731-CC99D08ED0CF}"/>
          </ac:spMkLst>
        </pc:spChg>
      </pc:sldChg>
      <pc:sldChg chg="addSp delSp modSp mod">
        <pc:chgData name="Jing Yao" userId="091c40ea-68b6-499e-bae2-99a7feffaccc" providerId="ADAL" clId="{5E772298-76B7-458D-A4DD-0CE458436BF0}" dt="2026-05-28T03:46:25.444" v="5390" actId="1076"/>
        <pc:sldMkLst>
          <pc:docMk/>
          <pc:sldMk cId="2335791967" sldId="281"/>
        </pc:sldMkLst>
        <pc:spChg chg="add mod">
          <ac:chgData name="Jing Yao" userId="091c40ea-68b6-499e-bae2-99a7feffaccc" providerId="ADAL" clId="{5E772298-76B7-458D-A4DD-0CE458436BF0}" dt="2026-05-28T03:46:25.444" v="5390" actId="1076"/>
          <ac:spMkLst>
            <pc:docMk/>
            <pc:sldMk cId="2335791967" sldId="281"/>
            <ac:spMk id="3" creationId="{6C38A68B-7377-6FCE-BA33-A98A82712EBF}"/>
          </ac:spMkLst>
        </pc:spChg>
        <pc:spChg chg="del mod">
          <ac:chgData name="Jing Yao" userId="091c40ea-68b6-499e-bae2-99a7feffaccc" providerId="ADAL" clId="{5E772298-76B7-458D-A4DD-0CE458436BF0}" dt="2026-05-28T03:46:21.066" v="5388" actId="478"/>
          <ac:spMkLst>
            <pc:docMk/>
            <pc:sldMk cId="2335791967" sldId="281"/>
            <ac:spMk id="7" creationId="{CF31A9DA-E766-581D-2C83-7CA7FD2BE309}"/>
          </ac:spMkLst>
        </pc:spChg>
      </pc:sldChg>
      <pc:sldChg chg="addSp delSp modSp mod">
        <pc:chgData name="Jing Yao" userId="091c40ea-68b6-499e-bae2-99a7feffaccc" providerId="ADAL" clId="{5E772298-76B7-458D-A4DD-0CE458436BF0}" dt="2026-05-28T03:47:17.078" v="5402" actId="1076"/>
        <pc:sldMkLst>
          <pc:docMk/>
          <pc:sldMk cId="2988827604" sldId="282"/>
        </pc:sldMkLst>
        <pc:spChg chg="add mod">
          <ac:chgData name="Jing Yao" userId="091c40ea-68b6-499e-bae2-99a7feffaccc" providerId="ADAL" clId="{5E772298-76B7-458D-A4DD-0CE458436BF0}" dt="2026-05-28T03:47:17.078" v="5402" actId="1076"/>
          <ac:spMkLst>
            <pc:docMk/>
            <pc:sldMk cId="2988827604" sldId="282"/>
            <ac:spMk id="3" creationId="{87E74743-0CAE-BDE6-666F-BF3150C67029}"/>
          </ac:spMkLst>
        </pc:spChg>
        <pc:spChg chg="del mod">
          <ac:chgData name="Jing Yao" userId="091c40ea-68b6-499e-bae2-99a7feffaccc" providerId="ADAL" clId="{5E772298-76B7-458D-A4DD-0CE458436BF0}" dt="2026-05-28T03:46:54.902" v="5397" actId="478"/>
          <ac:spMkLst>
            <pc:docMk/>
            <pc:sldMk cId="2988827604" sldId="282"/>
            <ac:spMk id="5" creationId="{12583272-524E-435B-18B5-676BEC15CF1C}"/>
          </ac:spMkLst>
        </pc:spChg>
      </pc:sldChg>
      <pc:sldChg chg="addSp delSp modSp mod">
        <pc:chgData name="Jing Yao" userId="091c40ea-68b6-499e-bae2-99a7feffaccc" providerId="ADAL" clId="{5E772298-76B7-458D-A4DD-0CE458436BF0}" dt="2026-05-28T03:47:51.130" v="5409" actId="1076"/>
        <pc:sldMkLst>
          <pc:docMk/>
          <pc:sldMk cId="711621296" sldId="283"/>
        </pc:sldMkLst>
        <pc:spChg chg="add mod">
          <ac:chgData name="Jing Yao" userId="091c40ea-68b6-499e-bae2-99a7feffaccc" providerId="ADAL" clId="{5E772298-76B7-458D-A4DD-0CE458436BF0}" dt="2026-05-28T03:47:51.130" v="5409" actId="1076"/>
          <ac:spMkLst>
            <pc:docMk/>
            <pc:sldMk cId="711621296" sldId="283"/>
            <ac:spMk id="3" creationId="{9E4F02CD-DA46-F9B5-3825-613A1E4D5013}"/>
          </ac:spMkLst>
        </pc:spChg>
        <pc:spChg chg="del">
          <ac:chgData name="Jing Yao" userId="091c40ea-68b6-499e-bae2-99a7feffaccc" providerId="ADAL" clId="{5E772298-76B7-458D-A4DD-0CE458436BF0}" dt="2026-05-28T03:47:36.087" v="5404" actId="478"/>
          <ac:spMkLst>
            <pc:docMk/>
            <pc:sldMk cId="711621296" sldId="283"/>
            <ac:spMk id="7" creationId="{AA2583C6-408D-53D7-A9B5-1195400B1B83}"/>
          </ac:spMkLst>
        </pc:spChg>
      </pc:sldChg>
      <pc:sldChg chg="addSp delSp modSp mod">
        <pc:chgData name="Jing Yao" userId="091c40ea-68b6-499e-bae2-99a7feffaccc" providerId="ADAL" clId="{5E772298-76B7-458D-A4DD-0CE458436BF0}" dt="2026-05-28T03:49:20.749" v="5442" actId="1076"/>
        <pc:sldMkLst>
          <pc:docMk/>
          <pc:sldMk cId="1545929248" sldId="284"/>
        </pc:sldMkLst>
        <pc:spChg chg="add mod">
          <ac:chgData name="Jing Yao" userId="091c40ea-68b6-499e-bae2-99a7feffaccc" providerId="ADAL" clId="{5E772298-76B7-458D-A4DD-0CE458436BF0}" dt="2026-05-28T03:49:20.749" v="5442" actId="1076"/>
          <ac:spMkLst>
            <pc:docMk/>
            <pc:sldMk cId="1545929248" sldId="284"/>
            <ac:spMk id="3" creationId="{C3C74C5A-B057-67BC-DEC9-234B284AF992}"/>
          </ac:spMkLst>
        </pc:spChg>
        <pc:spChg chg="del mod">
          <ac:chgData name="Jing Yao" userId="091c40ea-68b6-499e-bae2-99a7feffaccc" providerId="ADAL" clId="{5E772298-76B7-458D-A4DD-0CE458436BF0}" dt="2026-05-28T03:49:08.034" v="5436" actId="478"/>
          <ac:spMkLst>
            <pc:docMk/>
            <pc:sldMk cId="1545929248" sldId="284"/>
            <ac:spMk id="5" creationId="{324C62CF-5630-A68B-DA6B-85E137E2F793}"/>
          </ac:spMkLst>
        </pc:spChg>
      </pc:sldChg>
      <pc:sldChg chg="addSp delSp modSp mod">
        <pc:chgData name="Jing Yao" userId="091c40ea-68b6-499e-bae2-99a7feffaccc" providerId="ADAL" clId="{5E772298-76B7-458D-A4DD-0CE458436BF0}" dt="2026-05-28T03:49:33.160" v="5446" actId="113"/>
        <pc:sldMkLst>
          <pc:docMk/>
          <pc:sldMk cId="3620651593" sldId="285"/>
        </pc:sldMkLst>
        <pc:spChg chg="add del mod">
          <ac:chgData name="Jing Yao" userId="091c40ea-68b6-499e-bae2-99a7feffaccc" providerId="ADAL" clId="{5E772298-76B7-458D-A4DD-0CE458436BF0}" dt="2026-05-28T03:48:33.133" v="5424" actId="478"/>
          <ac:spMkLst>
            <pc:docMk/>
            <pc:sldMk cId="3620651593" sldId="285"/>
            <ac:spMk id="3" creationId="{B649160A-5DB9-55AB-E30D-181D5690C3B6}"/>
          </ac:spMkLst>
        </pc:spChg>
        <pc:spChg chg="del">
          <ac:chgData name="Jing Yao" userId="091c40ea-68b6-499e-bae2-99a7feffaccc" providerId="ADAL" clId="{5E772298-76B7-458D-A4DD-0CE458436BF0}" dt="2026-05-28T03:48:29.680" v="5423" actId="478"/>
          <ac:spMkLst>
            <pc:docMk/>
            <pc:sldMk cId="3620651593" sldId="285"/>
            <ac:spMk id="4" creationId="{021809DB-E92B-1193-2248-45F302ED351E}"/>
          </ac:spMkLst>
        </pc:spChg>
        <pc:spChg chg="add mod">
          <ac:chgData name="Jing Yao" userId="091c40ea-68b6-499e-bae2-99a7feffaccc" providerId="ADAL" clId="{5E772298-76B7-458D-A4DD-0CE458436BF0}" dt="2026-05-28T03:49:33.160" v="5446" actId="113"/>
          <ac:spMkLst>
            <pc:docMk/>
            <pc:sldMk cId="3620651593" sldId="285"/>
            <ac:spMk id="6" creationId="{7050FAB7-AFDD-8AFD-BA66-19D8BA5A86C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441283-612B-461F-9065-80D40B8AAA9E}"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7C494-4730-4793-9545-3295A53E60EF}" type="slidenum">
              <a:rPr lang="en-US" smtClean="0"/>
              <a:t>‹#›</a:t>
            </a:fld>
            <a:endParaRPr lang="en-US"/>
          </a:p>
        </p:txBody>
      </p:sp>
    </p:spTree>
    <p:extLst>
      <p:ext uri="{BB962C8B-B14F-4D97-AF65-F5344CB8AC3E}">
        <p14:creationId xmlns:p14="http://schemas.microsoft.com/office/powerpoint/2010/main" val="2007263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096DE-39ED-B3E6-0E2D-265335897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C3CEA-D3BE-A077-46D1-367D23E70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8E69B-3216-CA01-A3B9-F7E639F7F152}"/>
              </a:ext>
            </a:extLst>
          </p:cNvPr>
          <p:cNvSpPr>
            <a:spLocks noGrp="1"/>
          </p:cNvSpPr>
          <p:nvPr>
            <p:ph type="body" idx="1"/>
          </p:nvPr>
        </p:nvSpPr>
        <p:spPr/>
        <p:txBody>
          <a:bodyPr/>
          <a:lstStyle/>
          <a:p>
            <a:r>
              <a:rPr lang="en-US" altLang="zh-CN" dirty="0"/>
              <a:t>Now, let’s introduce the full annotation workflow. </a:t>
            </a:r>
          </a:p>
          <a:p>
            <a:endParaRPr lang="en-US" altLang="zh-CN" dirty="0"/>
          </a:p>
          <a:p>
            <a:endParaRPr lang="en-US" altLang="zh-CN" dirty="0"/>
          </a:p>
          <a:p>
            <a:r>
              <a:rPr lang="zh-CN" altLang="en-US" dirty="0"/>
              <a:t>开始任务介绍</a:t>
            </a:r>
            <a:endParaRPr lang="en-US" dirty="0"/>
          </a:p>
        </p:txBody>
      </p:sp>
      <p:sp>
        <p:nvSpPr>
          <p:cNvPr id="4" name="Slide Number Placeholder 3">
            <a:extLst>
              <a:ext uri="{FF2B5EF4-FFF2-40B4-BE49-F238E27FC236}">
                <a16:creationId xmlns:a16="http://schemas.microsoft.com/office/drawing/2014/main" id="{57E5D965-731D-5900-F357-438C34C77557}"/>
              </a:ext>
            </a:extLst>
          </p:cNvPr>
          <p:cNvSpPr>
            <a:spLocks noGrp="1"/>
          </p:cNvSpPr>
          <p:nvPr>
            <p:ph type="sldNum" sz="quarter" idx="5"/>
          </p:nvPr>
        </p:nvSpPr>
        <p:spPr/>
        <p:txBody>
          <a:bodyPr/>
          <a:lstStyle/>
          <a:p>
            <a:fld id="{1817C494-4730-4793-9545-3295A53E60EF}" type="slidenum">
              <a:rPr lang="en-US" smtClean="0"/>
              <a:t>1</a:t>
            </a:fld>
            <a:endParaRPr lang="en-US"/>
          </a:p>
        </p:txBody>
      </p:sp>
    </p:spTree>
    <p:extLst>
      <p:ext uri="{BB962C8B-B14F-4D97-AF65-F5344CB8AC3E}">
        <p14:creationId xmlns:p14="http://schemas.microsoft.com/office/powerpoint/2010/main" val="1513685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D445-ACCB-F457-2846-25603C7B2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21BF2-3F2A-6EC1-B652-CC135AE4C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A9569-3239-5045-FB0C-E41D76F665EB}"/>
              </a:ext>
            </a:extLst>
          </p:cNvPr>
          <p:cNvSpPr>
            <a:spLocks noGrp="1"/>
          </p:cNvSpPr>
          <p:nvPr>
            <p:ph type="body" idx="1"/>
          </p:nvPr>
        </p:nvSpPr>
        <p:spPr/>
        <p:txBody>
          <a:bodyPr/>
          <a:lstStyle/>
          <a:p>
            <a:r>
              <a:rPr lang="en-US" dirty="0"/>
              <a:t>Once you enter the annotation platform, please set up these information, your username, nationality and language.</a:t>
            </a:r>
          </a:p>
          <a:p>
            <a:endParaRPr lang="en-US" dirty="0"/>
          </a:p>
          <a:p>
            <a:r>
              <a:rPr lang="en-US" dirty="0"/>
              <a:t>Then, you need to </a:t>
            </a:r>
            <a:r>
              <a:rPr lang="en-US" sz="1200" kern="1200" dirty="0">
                <a:solidFill>
                  <a:schemeClr val="tx1"/>
                </a:solidFill>
                <a:effectLst/>
                <a:latin typeface="+mn-lt"/>
                <a:ea typeface="+mn-ea"/>
                <a:cs typeface="+mn-cs"/>
              </a:rPr>
              <a:t>complete</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three questionnaires.</a:t>
            </a:r>
          </a:p>
          <a:p>
            <a:r>
              <a:rPr lang="en-US" sz="1200" kern="1200" dirty="0">
                <a:solidFill>
                  <a:schemeClr val="tx1"/>
                </a:solidFill>
                <a:effectLst/>
                <a:latin typeface="+mn-lt"/>
                <a:ea typeface="+mn-ea"/>
                <a:cs typeface="+mn-cs"/>
              </a:rPr>
              <a:t>The annotator basic information survey</a:t>
            </a:r>
          </a:p>
          <a:p>
            <a:r>
              <a:rPr lang="en-US" sz="1200" kern="1200" dirty="0">
                <a:solidFill>
                  <a:schemeClr val="tx1"/>
                </a:solidFill>
                <a:effectLst/>
                <a:latin typeface="+mn-lt"/>
                <a:ea typeface="+mn-ea"/>
                <a:cs typeface="+mn-cs"/>
              </a:rPr>
              <a:t>The Schwartz Value Survey</a:t>
            </a:r>
          </a:p>
          <a:p>
            <a:r>
              <a:rPr lang="en-US" sz="1200" kern="1200" dirty="0">
                <a:solidFill>
                  <a:schemeClr val="tx1"/>
                </a:solidFill>
                <a:effectLst/>
                <a:latin typeface="+mn-lt"/>
                <a:ea typeface="+mn-ea"/>
                <a:cs typeface="+mn-cs"/>
              </a:rPr>
              <a:t>The Cultural Value Survey.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total time is around 25 to 30 minutes. Make sure you use </a:t>
            </a:r>
            <a:r>
              <a:rPr lang="en-US" sz="1200" b="1" kern="1200" dirty="0">
                <a:solidFill>
                  <a:schemeClr val="tx1"/>
                </a:solidFill>
                <a:effectLst/>
                <a:latin typeface="+mn-lt"/>
                <a:ea typeface="+mn-ea"/>
                <a:cs typeface="+mn-cs"/>
              </a:rPr>
              <a:t>the exact same spelling of your username for all questionnaires and whenever you log in the platform. Otherwise, we can not map the annotation to you.</a:t>
            </a:r>
            <a:br>
              <a:rPr lang="en-US" sz="1200" b="1" kern="1200" dirty="0">
                <a:solidFill>
                  <a:schemeClr val="tx1"/>
                </a:solidFill>
                <a:effectLst/>
                <a:latin typeface="+mn-lt"/>
                <a:ea typeface="+mn-ea"/>
                <a:cs typeface="+mn-cs"/>
              </a:rPr>
            </a:br>
            <a:endParaRPr lang="en-US" sz="1200" b="1" kern="1200" dirty="0">
              <a:solidFill>
                <a:schemeClr val="tx1"/>
              </a:solidFill>
              <a:effectLst/>
              <a:latin typeface="+mn-lt"/>
              <a:ea typeface="+mn-ea"/>
              <a:cs typeface="+mn-cs"/>
            </a:endParaRPr>
          </a:p>
          <a:p>
            <a:r>
              <a:rPr lang="en-US" dirty="0"/>
              <a:t>Once you finish all questionnaires, click “Next” to enter the annotation page.</a:t>
            </a:r>
          </a:p>
        </p:txBody>
      </p:sp>
      <p:sp>
        <p:nvSpPr>
          <p:cNvPr id="4" name="Slide Number Placeholder 3">
            <a:extLst>
              <a:ext uri="{FF2B5EF4-FFF2-40B4-BE49-F238E27FC236}">
                <a16:creationId xmlns:a16="http://schemas.microsoft.com/office/drawing/2014/main" id="{B343B64A-7DDE-9019-D572-D5FB57EFAD94}"/>
              </a:ext>
            </a:extLst>
          </p:cNvPr>
          <p:cNvSpPr>
            <a:spLocks noGrp="1"/>
          </p:cNvSpPr>
          <p:nvPr>
            <p:ph type="sldNum" sz="quarter" idx="5"/>
          </p:nvPr>
        </p:nvSpPr>
        <p:spPr/>
        <p:txBody>
          <a:bodyPr/>
          <a:lstStyle/>
          <a:p>
            <a:fld id="{1817C494-4730-4793-9545-3295A53E60EF}" type="slidenum">
              <a:rPr lang="en-US" smtClean="0"/>
              <a:t>2</a:t>
            </a:fld>
            <a:endParaRPr lang="en-US"/>
          </a:p>
        </p:txBody>
      </p:sp>
    </p:spTree>
    <p:extLst>
      <p:ext uri="{BB962C8B-B14F-4D97-AF65-F5344CB8AC3E}">
        <p14:creationId xmlns:p14="http://schemas.microsoft.com/office/powerpoint/2010/main" val="3178598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4D11A-69E9-364A-7F54-ABA3D4ED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C6BE9-D4C7-9123-2D71-2399F7862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5AE2E-F474-8B10-B3C3-0D74BBB3B0A0}"/>
              </a:ext>
            </a:extLst>
          </p:cNvPr>
          <p:cNvSpPr>
            <a:spLocks noGrp="1"/>
          </p:cNvSpPr>
          <p:nvPr>
            <p:ph type="body" idx="1"/>
          </p:nvPr>
        </p:nvSpPr>
        <p:spPr/>
        <p:txBody>
          <a:bodyPr/>
          <a:lstStyle/>
          <a:p>
            <a:r>
              <a:rPr lang="en-US" dirty="0"/>
              <a:t>The value-related data annotation task includes six main steps. It would take around 10 to 15 minutes to annotate one sample.</a:t>
            </a:r>
          </a:p>
          <a:p>
            <a:endParaRPr lang="en-US" dirty="0"/>
          </a:p>
          <a:p>
            <a:r>
              <a:rPr lang="en-US" dirty="0"/>
              <a:t>Step 1 is to select a topic.</a:t>
            </a:r>
          </a:p>
          <a:p>
            <a:r>
              <a:rPr lang="en-US" dirty="0"/>
              <a:t>First choose a Level-1 topic, and then a Level-2 subtopic.</a:t>
            </a:r>
          </a:p>
          <a:p>
            <a:r>
              <a:rPr lang="en-US" dirty="0"/>
              <a:t>You should prioritize topics that:</a:t>
            </a:r>
          </a:p>
          <a:p>
            <a:r>
              <a:rPr lang="en-US" sz="1200" b="1" kern="1200" dirty="0">
                <a:solidFill>
                  <a:schemeClr val="tx1"/>
                </a:solidFill>
                <a:effectLst/>
                <a:latin typeface="+mn-lt"/>
                <a:ea typeface="+mn-ea"/>
                <a:cs typeface="+mn-cs"/>
              </a:rPr>
              <a:t>Prioritize topics</a:t>
            </a:r>
            <a:r>
              <a:rPr lang="en-US" sz="1200" kern="1200" dirty="0">
                <a:solidFill>
                  <a:schemeClr val="tx1"/>
                </a:solidFill>
                <a:effectLst/>
                <a:latin typeface="+mn-lt"/>
                <a:ea typeface="+mn-ea"/>
                <a:cs typeface="+mn-cs"/>
              </a:rPr>
              <a:t> that:</a:t>
            </a:r>
          </a:p>
          <a:p>
            <a:pPr lvl="0"/>
            <a:r>
              <a:rPr lang="en-US" sz="1200" kern="1200" dirty="0">
                <a:solidFill>
                  <a:schemeClr val="tx1"/>
                </a:solidFill>
                <a:effectLst/>
                <a:latin typeface="+mn-lt"/>
                <a:ea typeface="+mn-ea"/>
                <a:cs typeface="+mn-cs"/>
              </a:rPr>
              <a:t>Receive widespread attention and commonly appear in practical life in your culture.</a:t>
            </a:r>
          </a:p>
          <a:p>
            <a:pPr lvl="0"/>
            <a:r>
              <a:rPr lang="en-US" sz="1200" kern="1200" dirty="0">
                <a:solidFill>
                  <a:schemeClr val="tx1"/>
                </a:solidFill>
                <a:effectLst/>
                <a:latin typeface="+mn-lt"/>
                <a:ea typeface="+mn-ea"/>
                <a:cs typeface="+mn-cs"/>
              </a:rPr>
              <a:t>Trigger discussion involving values, social norms or behavior principles.</a:t>
            </a:r>
          </a:p>
          <a:p>
            <a:pPr lvl="0"/>
            <a:r>
              <a:rPr lang="en-US" sz="1200" kern="1200" dirty="0">
                <a:solidFill>
                  <a:schemeClr val="tx1"/>
                </a:solidFill>
                <a:effectLst/>
                <a:latin typeface="+mn-lt"/>
                <a:ea typeface="+mn-ea"/>
                <a:cs typeface="+mn-cs"/>
              </a:rPr>
              <a:t>Reflect cultural differences</a:t>
            </a:r>
          </a:p>
          <a:p>
            <a:pPr lvl="0"/>
            <a:r>
              <a:rPr lang="en-US" sz="1200" kern="1200" dirty="0">
                <a:solidFill>
                  <a:schemeClr val="tx1"/>
                </a:solidFill>
                <a:effectLst/>
                <a:latin typeface="+mn-lt"/>
                <a:ea typeface="+mn-ea"/>
                <a:cs typeface="+mn-cs"/>
              </a:rPr>
              <a:t>You are familiar with the values of your culture under this topic.</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you think none of the level-2 topic fits the requirement, you may create a new Level-2 topic by yourself.</a:t>
            </a:r>
          </a:p>
        </p:txBody>
      </p:sp>
      <p:sp>
        <p:nvSpPr>
          <p:cNvPr id="4" name="Slide Number Placeholder 3">
            <a:extLst>
              <a:ext uri="{FF2B5EF4-FFF2-40B4-BE49-F238E27FC236}">
                <a16:creationId xmlns:a16="http://schemas.microsoft.com/office/drawing/2014/main" id="{09A9C8C3-0A5D-7E78-970C-14CAEA8B72C2}"/>
              </a:ext>
            </a:extLst>
          </p:cNvPr>
          <p:cNvSpPr>
            <a:spLocks noGrp="1"/>
          </p:cNvSpPr>
          <p:nvPr>
            <p:ph type="sldNum" sz="quarter" idx="5"/>
          </p:nvPr>
        </p:nvSpPr>
        <p:spPr/>
        <p:txBody>
          <a:bodyPr/>
          <a:lstStyle/>
          <a:p>
            <a:fld id="{1817C494-4730-4793-9545-3295A53E60EF}" type="slidenum">
              <a:rPr lang="en-US" smtClean="0"/>
              <a:t>3</a:t>
            </a:fld>
            <a:endParaRPr lang="en-US"/>
          </a:p>
        </p:txBody>
      </p:sp>
    </p:spTree>
    <p:extLst>
      <p:ext uri="{BB962C8B-B14F-4D97-AF65-F5344CB8AC3E}">
        <p14:creationId xmlns:p14="http://schemas.microsoft.com/office/powerpoint/2010/main" val="3100499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3D47B-5FB7-4395-DD64-857A2B69E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8501E-53BB-7CE4-4A48-FCFB8AC4C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90FFF-18BE-EE61-8FB3-8B60080888C7}"/>
              </a:ext>
            </a:extLst>
          </p:cNvPr>
          <p:cNvSpPr>
            <a:spLocks noGrp="1"/>
          </p:cNvSpPr>
          <p:nvPr>
            <p:ph type="body" idx="1"/>
          </p:nvPr>
        </p:nvSpPr>
        <p:spPr/>
        <p:txBody>
          <a:bodyPr/>
          <a:lstStyle/>
          <a:p>
            <a:endParaRPr lang="en-US" dirty="0"/>
          </a:p>
          <a:p>
            <a:r>
              <a:rPr lang="en-US" dirty="0"/>
              <a:t>Step 2 is to list key value principles.</a:t>
            </a:r>
          </a:p>
          <a:p>
            <a:endParaRPr lang="en-US" dirty="0"/>
          </a:p>
          <a:p>
            <a:r>
              <a:rPr lang="en-US" dirty="0"/>
              <a:t>You need to write 3 to 5 principles </a:t>
            </a:r>
            <a:r>
              <a:rPr lang="en-US" sz="1200" kern="1200" dirty="0">
                <a:solidFill>
                  <a:schemeClr val="tx1"/>
                </a:solidFill>
                <a:effectLst/>
                <a:latin typeface="+mn-lt"/>
                <a:ea typeface="+mn-ea"/>
                <a:cs typeface="+mn-cs"/>
              </a:rPr>
              <a:t>that describe how people in your culture usually think or behave under this topic.</a:t>
            </a:r>
            <a:endParaRPr lang="en-US" dirty="0"/>
          </a:p>
          <a:p>
            <a:endParaRPr lang="en-US" dirty="0"/>
          </a:p>
          <a:p>
            <a:r>
              <a:rPr lang="en-US" dirty="0"/>
              <a:t>You can use these templates:</a:t>
            </a:r>
          </a:p>
          <a:p>
            <a:r>
              <a:rPr lang="en-US" dirty="0"/>
              <a:t>Under this topic, people are encouraged to... </a:t>
            </a:r>
          </a:p>
          <a:p>
            <a:r>
              <a:rPr lang="en-US" dirty="0"/>
              <a:t>people should avoid... </a:t>
            </a:r>
          </a:p>
          <a:p>
            <a:r>
              <a:rPr lang="en-US" dirty="0"/>
              <a:t>something is considered appropriate or inappropriate </a:t>
            </a:r>
          </a:p>
          <a:p>
            <a:r>
              <a:rPr lang="en-US" dirty="0"/>
              <a:t>people usually do A rather than B</a:t>
            </a:r>
          </a:p>
          <a:p>
            <a:endParaRPr lang="en-US" dirty="0"/>
          </a:p>
          <a:p>
            <a:r>
              <a:rPr lang="en-US" dirty="0"/>
              <a:t>Make sure: you list 3 to 5 items, rank them by importance and avoid duplicates </a:t>
            </a:r>
          </a:p>
        </p:txBody>
      </p:sp>
      <p:sp>
        <p:nvSpPr>
          <p:cNvPr id="4" name="Slide Number Placeholder 3">
            <a:extLst>
              <a:ext uri="{FF2B5EF4-FFF2-40B4-BE49-F238E27FC236}">
                <a16:creationId xmlns:a16="http://schemas.microsoft.com/office/drawing/2014/main" id="{5451494B-9DFB-EB4E-E6C9-C2A06AD9A057}"/>
              </a:ext>
            </a:extLst>
          </p:cNvPr>
          <p:cNvSpPr>
            <a:spLocks noGrp="1"/>
          </p:cNvSpPr>
          <p:nvPr>
            <p:ph type="sldNum" sz="quarter" idx="5"/>
          </p:nvPr>
        </p:nvSpPr>
        <p:spPr/>
        <p:txBody>
          <a:bodyPr/>
          <a:lstStyle/>
          <a:p>
            <a:fld id="{1817C494-4730-4793-9545-3295A53E60EF}" type="slidenum">
              <a:rPr lang="en-US" smtClean="0"/>
              <a:t>4</a:t>
            </a:fld>
            <a:endParaRPr lang="en-US"/>
          </a:p>
        </p:txBody>
      </p:sp>
    </p:spTree>
    <p:extLst>
      <p:ext uri="{BB962C8B-B14F-4D97-AF65-F5344CB8AC3E}">
        <p14:creationId xmlns:p14="http://schemas.microsoft.com/office/powerpoint/2010/main" val="1255214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14A05-338D-7F6E-23DF-6714A7124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E8953-0AD7-7538-82FB-FB4D79FCF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506CF-3074-6CF5-C6DE-D4707EACAA19}"/>
              </a:ext>
            </a:extLst>
          </p:cNvPr>
          <p:cNvSpPr>
            <a:spLocks noGrp="1"/>
          </p:cNvSpPr>
          <p:nvPr>
            <p:ph type="body" idx="1"/>
          </p:nvPr>
        </p:nvSpPr>
        <p:spPr/>
        <p:txBody>
          <a:bodyPr/>
          <a:lstStyle/>
          <a:p>
            <a:r>
              <a:rPr lang="en-US" dirty="0"/>
              <a:t>Step 3 is to select a task type to create value-related questions.</a:t>
            </a:r>
          </a:p>
          <a:p>
            <a:endParaRPr lang="en-US" dirty="0"/>
          </a:p>
          <a:p>
            <a:r>
              <a:rPr lang="en-US" dirty="0"/>
              <a:t>Choose a task type that:</a:t>
            </a:r>
          </a:p>
          <a:p>
            <a:pPr lvl="0"/>
            <a:r>
              <a:rPr lang="en-US" sz="1200" kern="1200" dirty="0">
                <a:solidFill>
                  <a:schemeClr val="tx1"/>
                </a:solidFill>
                <a:effectLst/>
                <a:latin typeface="+mn-lt"/>
                <a:ea typeface="+mn-ea"/>
                <a:cs typeface="+mn-cs"/>
              </a:rPr>
              <a:t>Commonly appear in real-life situations</a:t>
            </a:r>
          </a:p>
          <a:p>
            <a:pPr lvl="0"/>
            <a:r>
              <a:rPr lang="en-US" sz="1200" kern="1200" dirty="0">
                <a:solidFill>
                  <a:schemeClr val="tx1"/>
                </a:solidFill>
                <a:effectLst/>
                <a:latin typeface="+mn-lt"/>
                <a:ea typeface="+mn-ea"/>
                <a:cs typeface="+mn-cs"/>
              </a:rPr>
              <a:t>Trigger value-based thinking under this topic</a:t>
            </a:r>
            <a:endParaRPr lang="en-US" dirty="0"/>
          </a:p>
        </p:txBody>
      </p:sp>
      <p:sp>
        <p:nvSpPr>
          <p:cNvPr id="4" name="Slide Number Placeholder 3">
            <a:extLst>
              <a:ext uri="{FF2B5EF4-FFF2-40B4-BE49-F238E27FC236}">
                <a16:creationId xmlns:a16="http://schemas.microsoft.com/office/drawing/2014/main" id="{4FFE5F5F-C821-EB13-74FE-CCD1D7BD21CA}"/>
              </a:ext>
            </a:extLst>
          </p:cNvPr>
          <p:cNvSpPr>
            <a:spLocks noGrp="1"/>
          </p:cNvSpPr>
          <p:nvPr>
            <p:ph type="sldNum" sz="quarter" idx="5"/>
          </p:nvPr>
        </p:nvSpPr>
        <p:spPr/>
        <p:txBody>
          <a:bodyPr/>
          <a:lstStyle/>
          <a:p>
            <a:fld id="{1817C494-4730-4793-9545-3295A53E60EF}" type="slidenum">
              <a:rPr lang="en-US" smtClean="0"/>
              <a:t>5</a:t>
            </a:fld>
            <a:endParaRPr lang="en-US"/>
          </a:p>
        </p:txBody>
      </p:sp>
    </p:spTree>
    <p:extLst>
      <p:ext uri="{BB962C8B-B14F-4D97-AF65-F5344CB8AC3E}">
        <p14:creationId xmlns:p14="http://schemas.microsoft.com/office/powerpoint/2010/main" val="3385365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3FD5C-D7A4-8086-48B3-77D68C2EB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9BB09-C030-C304-F6AA-D9ACCEB73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ED693-A28E-A75B-CF60-4CF263BB935B}"/>
              </a:ext>
            </a:extLst>
          </p:cNvPr>
          <p:cNvSpPr>
            <a:spLocks noGrp="1"/>
          </p:cNvSpPr>
          <p:nvPr>
            <p:ph type="body" idx="1"/>
          </p:nvPr>
        </p:nvSpPr>
        <p:spPr/>
        <p:txBody>
          <a:bodyPr/>
          <a:lstStyle/>
          <a:p>
            <a:r>
              <a:rPr lang="en-US" dirty="0"/>
              <a:t>Step 4 is to create or select one value-related question.</a:t>
            </a:r>
          </a:p>
          <a:p>
            <a:endParaRPr lang="en-US" dirty="0"/>
          </a:p>
          <a:p>
            <a:r>
              <a:rPr lang="en-US" dirty="0"/>
              <a:t>You have three options:</a:t>
            </a:r>
          </a:p>
          <a:p>
            <a:pPr lvl="0"/>
            <a:r>
              <a:rPr lang="en-US" sz="1200" kern="1200" dirty="0">
                <a:solidFill>
                  <a:schemeClr val="tx1"/>
                </a:solidFill>
                <a:effectLst/>
                <a:latin typeface="+mn-lt"/>
                <a:ea typeface="+mn-ea"/>
                <a:cs typeface="+mn-cs"/>
              </a:rPr>
              <a:t>Select one of the candidate questions</a:t>
            </a:r>
          </a:p>
          <a:p>
            <a:pPr lvl="0"/>
            <a:r>
              <a:rPr lang="en-US" sz="1200" kern="1200" dirty="0">
                <a:solidFill>
                  <a:schemeClr val="tx1"/>
                </a:solidFill>
                <a:effectLst/>
                <a:latin typeface="+mn-lt"/>
                <a:ea typeface="+mn-ea"/>
                <a:cs typeface="+mn-cs"/>
              </a:rPr>
              <a:t>Refine a candidate question to better meet requirements</a:t>
            </a:r>
          </a:p>
          <a:p>
            <a:pPr lvl="0"/>
            <a:r>
              <a:rPr lang="en-US" sz="1200" kern="1200" dirty="0">
                <a:solidFill>
                  <a:schemeClr val="tx1"/>
                </a:solidFill>
                <a:effectLst/>
                <a:latin typeface="+mn-lt"/>
                <a:ea typeface="+mn-ea"/>
                <a:cs typeface="+mn-cs"/>
              </a:rPr>
              <a:t>Create a new value-related question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each question, we provide </a:t>
            </a:r>
            <a:r>
              <a:rPr lang="en-US" dirty="0"/>
              <a:t>two scores:</a:t>
            </a:r>
          </a:p>
          <a:p>
            <a:r>
              <a:rPr lang="en-US" dirty="0"/>
              <a:t>importance score means how important cultural values the question is related to.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Frequency score indicates how </a:t>
            </a:r>
            <a:r>
              <a:rPr lang="en-US" sz="1200" kern="1200" dirty="0">
                <a:solidFill>
                  <a:schemeClr val="tx1"/>
                </a:solidFill>
                <a:effectLst/>
                <a:latin typeface="+mn-lt"/>
                <a:ea typeface="+mn-ea"/>
                <a:cs typeface="+mn-cs"/>
              </a:rPr>
              <a:t>often the question would appear in your culture</a:t>
            </a:r>
            <a:endParaRPr lang="en-US" dirty="0"/>
          </a:p>
          <a:p>
            <a:endParaRPr lang="en-US" dirty="0"/>
          </a:p>
          <a:p>
            <a:r>
              <a:rPr lang="en-US" sz="1200" kern="1200" dirty="0">
                <a:solidFill>
                  <a:schemeClr val="tx1"/>
                </a:solidFill>
                <a:effectLst/>
                <a:latin typeface="+mn-lt"/>
                <a:ea typeface="+mn-ea"/>
                <a:cs typeface="+mn-cs"/>
              </a:rPr>
              <a:t>Note: Current scores are automatically estimated by AI for reference. You may choose questions you consider important or frequent and revise the two scores accordingly</a:t>
            </a:r>
            <a:endParaRPr lang="en-US" dirty="0"/>
          </a:p>
          <a:p>
            <a:endParaRPr lang="en-US" dirty="0"/>
          </a:p>
          <a:p>
            <a:r>
              <a:rPr lang="en-US" sz="1200" kern="1200" dirty="0">
                <a:solidFill>
                  <a:schemeClr val="tx1"/>
                </a:solidFill>
                <a:effectLst/>
                <a:latin typeface="+mn-lt"/>
                <a:ea typeface="+mn-ea"/>
                <a:cs typeface="+mn-cs"/>
              </a:rPr>
              <a:t>Prioritize or create questions </a:t>
            </a:r>
            <a:r>
              <a:rPr lang="en-US" dirty="0"/>
              <a:t>meets these requirements:</a:t>
            </a:r>
          </a:p>
          <a:p>
            <a:r>
              <a:rPr lang="en-US" dirty="0"/>
              <a:t>Both importance and frequency scores should be at least 3 </a:t>
            </a:r>
          </a:p>
          <a:p>
            <a:r>
              <a:rPr lang="en-US" dirty="0"/>
              <a:t>and at least one should be 4 or higher </a:t>
            </a:r>
          </a:p>
          <a:p>
            <a:pPr lvl="0"/>
            <a:r>
              <a:rPr lang="en-US" sz="1200" kern="1200" dirty="0">
                <a:solidFill>
                  <a:schemeClr val="tx1"/>
                </a:solidFill>
                <a:effectLst/>
                <a:latin typeface="+mn-lt"/>
                <a:ea typeface="+mn-ea"/>
                <a:cs typeface="+mn-cs"/>
              </a:rPr>
              <a:t>For refined or newly created questions, please score the question from both aspects and ensure the question meets the above requirements.</a:t>
            </a:r>
            <a:endParaRPr lang="en-US" dirty="0"/>
          </a:p>
          <a:p>
            <a:endParaRPr lang="en-US" dirty="0"/>
          </a:p>
          <a:p>
            <a:r>
              <a:rPr lang="en-US" sz="1200" kern="1200" dirty="0">
                <a:solidFill>
                  <a:schemeClr val="tx1"/>
                </a:solidFill>
                <a:effectLst/>
                <a:latin typeface="+mn-lt"/>
                <a:ea typeface="+mn-ea"/>
                <a:cs typeface="+mn-cs"/>
              </a:rPr>
              <a:t>You must cover and </a:t>
            </a:r>
            <a:r>
              <a:rPr lang="en-US" sz="1200" b="1" kern="1200" dirty="0">
                <a:solidFill>
                  <a:schemeClr val="tx1"/>
                </a:solidFill>
                <a:effectLst/>
                <a:latin typeface="+mn-lt"/>
                <a:ea typeface="+mn-ea"/>
                <a:cs typeface="+mn-cs"/>
              </a:rPr>
              <a:t>balance three types of questions: Select, Refine, Create. Avoid using only one type</a:t>
            </a:r>
            <a:r>
              <a:rPr lang="en-US" sz="1200" kern="1200" dirty="0">
                <a:solidFill>
                  <a:schemeClr val="tx1"/>
                </a:solidFill>
                <a:effectLst/>
                <a:latin typeface="+mn-lt"/>
                <a:ea typeface="+mn-ea"/>
                <a:cs typeface="+mn-cs"/>
              </a:rPr>
              <a:t>.</a:t>
            </a:r>
          </a:p>
        </p:txBody>
      </p:sp>
      <p:sp>
        <p:nvSpPr>
          <p:cNvPr id="4" name="Slide Number Placeholder 3">
            <a:extLst>
              <a:ext uri="{FF2B5EF4-FFF2-40B4-BE49-F238E27FC236}">
                <a16:creationId xmlns:a16="http://schemas.microsoft.com/office/drawing/2014/main" id="{4E1D9CDA-3ABE-C6D5-471C-D8AC71F9F931}"/>
              </a:ext>
            </a:extLst>
          </p:cNvPr>
          <p:cNvSpPr>
            <a:spLocks noGrp="1"/>
          </p:cNvSpPr>
          <p:nvPr>
            <p:ph type="sldNum" sz="quarter" idx="5"/>
          </p:nvPr>
        </p:nvSpPr>
        <p:spPr/>
        <p:txBody>
          <a:bodyPr/>
          <a:lstStyle/>
          <a:p>
            <a:fld id="{1817C494-4730-4793-9545-3295A53E60EF}" type="slidenum">
              <a:rPr lang="en-US" smtClean="0"/>
              <a:t>6</a:t>
            </a:fld>
            <a:endParaRPr lang="en-US"/>
          </a:p>
        </p:txBody>
      </p:sp>
    </p:spTree>
    <p:extLst>
      <p:ext uri="{BB962C8B-B14F-4D97-AF65-F5344CB8AC3E}">
        <p14:creationId xmlns:p14="http://schemas.microsoft.com/office/powerpoint/2010/main" val="3022229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405A8-3354-77CC-4374-2B769BE84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9F9CD-B7D8-DE4D-36A8-28E2D6DED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CF1E3-6440-AE3C-C061-61A909CAA5C6}"/>
              </a:ext>
            </a:extLst>
          </p:cNvPr>
          <p:cNvSpPr>
            <a:spLocks noGrp="1"/>
          </p:cNvSpPr>
          <p:nvPr>
            <p:ph type="body" idx="1"/>
          </p:nvPr>
        </p:nvSpPr>
        <p:spPr/>
        <p:txBody>
          <a:bodyPr/>
          <a:lstStyle/>
          <a:p>
            <a:r>
              <a:rPr lang="en-US" dirty="0"/>
              <a:t>Step 5 is the most important step: cultural annotation.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the question, the platform provides an initial response. You will review the answer and adjust it to align with cultural values.</a:t>
            </a:r>
          </a:p>
          <a:p>
            <a:r>
              <a:rPr lang="en-US" sz="1200" kern="1200" dirty="0">
                <a:solidFill>
                  <a:schemeClr val="tx1"/>
                </a:solidFill>
                <a:effectLst/>
                <a:latin typeface="+mn-lt"/>
                <a:ea typeface="+mn-ea"/>
                <a:cs typeface="+mn-cs"/>
              </a:rPr>
              <a:t>We highlight all value-related text fragments in the response and identify their reflected values.</a:t>
            </a:r>
          </a:p>
          <a:p>
            <a:r>
              <a:rPr lang="en-US" sz="1200" kern="1200" dirty="0">
                <a:solidFill>
                  <a:schemeClr val="tx1"/>
                </a:solidFill>
                <a:effectLst/>
                <a:latin typeface="+mn-lt"/>
                <a:ea typeface="+mn-ea"/>
                <a:cs typeface="+mn-cs"/>
              </a:rPr>
              <a:t>First, review each highlighted fragment and annotate them in two steps below:</a:t>
            </a:r>
          </a:p>
          <a:p>
            <a:pPr lvl="0"/>
            <a:r>
              <a:rPr lang="en-US" sz="1200" kern="1200" dirty="0">
                <a:solidFill>
                  <a:schemeClr val="tx1"/>
                </a:solidFill>
                <a:effectLst/>
                <a:latin typeface="+mn-lt"/>
                <a:ea typeface="+mn-ea"/>
                <a:cs typeface="+mn-cs"/>
              </a:rPr>
              <a:t>First, check the value. judge whether the labeled values align with your cultural values in this scenario, then decide: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Completely correct,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Irrelevant or incorrect, delete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Some are misaligned or some are missing, revise</a:t>
            </a:r>
            <a:endParaRPr lang="en-US" sz="11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Then, check the text, based on the values in the last step, ask does the text reflect the values? does the text align with the behavior practices in your culture? Then, decide: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Fully align with the values and culture practices,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Not aligned at all,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Some content is misaligned with the value or culture practices, or some are missing, revise.</a:t>
            </a:r>
            <a:endParaRPr lang="en-US" sz="11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Next, after reviewing all fragments, reflect on the whole answer to check whether some important cultural values are missing. Check from two angles:</a:t>
            </a: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Are some core points of the question not been fully addressed?</a:t>
            </a:r>
          </a:p>
          <a:p>
            <a:pPr lvl="0"/>
            <a:r>
              <a:rPr lang="en-US" sz="1200" kern="1200" dirty="0">
                <a:solidFill>
                  <a:schemeClr val="tx1"/>
                </a:solidFill>
                <a:effectLst/>
                <a:latin typeface="+mn-lt"/>
                <a:ea typeface="+mn-ea"/>
                <a:cs typeface="+mn-cs"/>
              </a:rPr>
              <a:t>Are cultural values that are usually emphasized in this scenario missing?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either issue exists, click “Add New” to add both new values and the corresponding texts. </a:t>
            </a:r>
          </a:p>
          <a:p>
            <a:endParaRPr lang="en-US" sz="1200" kern="1200" dirty="0">
              <a:solidFill>
                <a:schemeClr val="tx1"/>
              </a:solidFill>
              <a:effectLst/>
              <a:latin typeface="+mn-lt"/>
              <a:ea typeface="+mn-ea"/>
              <a:cs typeface="+mn-cs"/>
            </a:endParaRPr>
          </a:p>
          <a:p>
            <a:r>
              <a:rPr lang="en-US" dirty="0"/>
              <a:t>There are three important rules to keep the annotation consistent:</a:t>
            </a:r>
          </a:p>
          <a:p>
            <a:pPr lvl="1"/>
            <a:r>
              <a:rPr lang="en-US" sz="1200" kern="1200" dirty="0">
                <a:solidFill>
                  <a:schemeClr val="tx1"/>
                </a:solidFill>
                <a:effectLst/>
                <a:latin typeface="+mn-lt"/>
                <a:ea typeface="+mn-ea"/>
                <a:cs typeface="+mn-cs"/>
              </a:rPr>
              <a:t>If you delete values, you must delete the corresponding text; </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If you revise values, you must also revise the text accordingly; </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Even if you just keep values without revision, but the text does not align well with the values or the culture behavior practices, you should also revise text accordingly.</a:t>
            </a:r>
            <a:endParaRPr lang="en-US" sz="1100" kern="1200" dirty="0">
              <a:solidFill>
                <a:schemeClr val="tx1"/>
              </a:solidFill>
              <a:effectLst/>
              <a:latin typeface="+mn-lt"/>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Besides, </a:t>
            </a:r>
            <a:r>
              <a:rPr lang="en-US" sz="1200" kern="1200" dirty="0">
                <a:solidFill>
                  <a:schemeClr val="tx1"/>
                </a:solidFill>
                <a:effectLst/>
                <a:latin typeface="+mn-lt"/>
                <a:ea typeface="+mn-ea"/>
                <a:cs typeface="+mn-cs"/>
              </a:rPr>
              <a:t>Just focus on values and text reflecting values. Please ignore other differences not caused by values, such as language style (colloquial vs. written, formal vs. casual), text format and structure (paragraphing, punctuation conventions, etc.), and length. These issues are not within the scope of annotation.</a:t>
            </a:r>
          </a:p>
        </p:txBody>
      </p:sp>
      <p:sp>
        <p:nvSpPr>
          <p:cNvPr id="4" name="Slide Number Placeholder 3">
            <a:extLst>
              <a:ext uri="{FF2B5EF4-FFF2-40B4-BE49-F238E27FC236}">
                <a16:creationId xmlns:a16="http://schemas.microsoft.com/office/drawing/2014/main" id="{E69D5E3D-9596-239F-789D-1ECAE9A64FD9}"/>
              </a:ext>
            </a:extLst>
          </p:cNvPr>
          <p:cNvSpPr>
            <a:spLocks noGrp="1"/>
          </p:cNvSpPr>
          <p:nvPr>
            <p:ph type="sldNum" sz="quarter" idx="5"/>
          </p:nvPr>
        </p:nvSpPr>
        <p:spPr/>
        <p:txBody>
          <a:bodyPr/>
          <a:lstStyle/>
          <a:p>
            <a:fld id="{1817C494-4730-4793-9545-3295A53E60EF}" type="slidenum">
              <a:rPr lang="en-US" smtClean="0"/>
              <a:t>7</a:t>
            </a:fld>
            <a:endParaRPr lang="en-US"/>
          </a:p>
        </p:txBody>
      </p:sp>
    </p:spTree>
    <p:extLst>
      <p:ext uri="{BB962C8B-B14F-4D97-AF65-F5344CB8AC3E}">
        <p14:creationId xmlns:p14="http://schemas.microsoft.com/office/powerpoint/2010/main" val="1865372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F6D19-80E0-0605-B084-735395D59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7669E-A946-0B0F-808F-430135377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B7059-7B2C-D2D0-5232-26F4DA1F90B8}"/>
              </a:ext>
            </a:extLst>
          </p:cNvPr>
          <p:cNvSpPr>
            <a:spLocks noGrp="1"/>
          </p:cNvSpPr>
          <p:nvPr>
            <p:ph type="body" idx="1"/>
          </p:nvPr>
        </p:nvSpPr>
        <p:spPr/>
        <p:txBody>
          <a:bodyPr/>
          <a:lstStyle/>
          <a:p>
            <a:r>
              <a:rPr lang="en-US" dirty="0"/>
              <a:t>Step 5 is the most important step: cultural annotation.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the question, the platform provides an initial response. You will review the answer and adjust it to align with cultural values.</a:t>
            </a:r>
          </a:p>
          <a:p>
            <a:r>
              <a:rPr lang="en-US" sz="1200" kern="1200" dirty="0">
                <a:solidFill>
                  <a:schemeClr val="tx1"/>
                </a:solidFill>
                <a:effectLst/>
                <a:latin typeface="+mn-lt"/>
                <a:ea typeface="+mn-ea"/>
                <a:cs typeface="+mn-cs"/>
              </a:rPr>
              <a:t>We highlight all value-related text fragments in the response and identify their reflected values.</a:t>
            </a:r>
          </a:p>
          <a:p>
            <a:r>
              <a:rPr lang="en-US" sz="1200" kern="1200" dirty="0">
                <a:solidFill>
                  <a:schemeClr val="tx1"/>
                </a:solidFill>
                <a:effectLst/>
                <a:latin typeface="+mn-lt"/>
                <a:ea typeface="+mn-ea"/>
                <a:cs typeface="+mn-cs"/>
              </a:rPr>
              <a:t>First, review each highlighted fragment and annotate them in two steps below:</a:t>
            </a:r>
          </a:p>
          <a:p>
            <a:pPr lvl="0"/>
            <a:r>
              <a:rPr lang="en-US" sz="1200" kern="1200" dirty="0">
                <a:solidFill>
                  <a:schemeClr val="tx1"/>
                </a:solidFill>
                <a:effectLst/>
                <a:latin typeface="+mn-lt"/>
                <a:ea typeface="+mn-ea"/>
                <a:cs typeface="+mn-cs"/>
              </a:rPr>
              <a:t>First, check the value. judge whether the labeled values align with your cultural values in this scenario, then decide: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Completely correct,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Irrelevant or incorrect, delete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Some are misaligned or some are missing, revise</a:t>
            </a:r>
            <a:endParaRPr lang="en-US" sz="11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Then, check the text, based on the values in the last step, ask does the text reflect the values? does the text align with the behavior practices in your culture? Then, decide: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Fully align with the values and culture practices,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Not aligned at all, keep</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Some content is misaligned with the value or culture practices, or some are missing, revise.</a:t>
            </a:r>
            <a:endParaRPr lang="en-US" sz="11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Next, after reviewing all fragments, reflect on the whole answer to check whether some important cultural values are missing. Check from two angles:</a:t>
            </a: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Are some core points of the question not been fully addressed?</a:t>
            </a:r>
          </a:p>
          <a:p>
            <a:pPr lvl="0"/>
            <a:r>
              <a:rPr lang="en-US" sz="1200" kern="1200" dirty="0">
                <a:solidFill>
                  <a:schemeClr val="tx1"/>
                </a:solidFill>
                <a:effectLst/>
                <a:latin typeface="+mn-lt"/>
                <a:ea typeface="+mn-ea"/>
                <a:cs typeface="+mn-cs"/>
              </a:rPr>
              <a:t>Are cultural values that are usually emphasized in this scenario missing?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either issue exists, click “Add New” to add both new values and the corresponding texts. </a:t>
            </a:r>
          </a:p>
          <a:p>
            <a:endParaRPr lang="en-US" sz="1200" kern="1200" dirty="0">
              <a:solidFill>
                <a:schemeClr val="tx1"/>
              </a:solidFill>
              <a:effectLst/>
              <a:latin typeface="+mn-lt"/>
              <a:ea typeface="+mn-ea"/>
              <a:cs typeface="+mn-cs"/>
            </a:endParaRPr>
          </a:p>
          <a:p>
            <a:r>
              <a:rPr lang="en-US" dirty="0"/>
              <a:t>There are three important rules to keep the annotation consistent:</a:t>
            </a:r>
          </a:p>
          <a:p>
            <a:pPr lvl="1"/>
            <a:r>
              <a:rPr lang="en-US" sz="1200" kern="1200" dirty="0">
                <a:solidFill>
                  <a:schemeClr val="tx1"/>
                </a:solidFill>
                <a:effectLst/>
                <a:latin typeface="+mn-lt"/>
                <a:ea typeface="+mn-ea"/>
                <a:cs typeface="+mn-cs"/>
              </a:rPr>
              <a:t>If you delete values, you must delete the corresponding text; </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If you revise values, you must also revise the text accordingly; </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Even if you just keep values without revision, but the text does not align well with the values or the culture behavior practices, you should also revise text accordingly.</a:t>
            </a:r>
            <a:endParaRPr lang="en-US" sz="1100" kern="1200" dirty="0">
              <a:solidFill>
                <a:schemeClr val="tx1"/>
              </a:solidFill>
              <a:effectLst/>
              <a:latin typeface="+mn-lt"/>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Besides, </a:t>
            </a:r>
            <a:r>
              <a:rPr lang="en-US" sz="1200" kern="1200" dirty="0">
                <a:solidFill>
                  <a:schemeClr val="tx1"/>
                </a:solidFill>
                <a:effectLst/>
                <a:latin typeface="+mn-lt"/>
                <a:ea typeface="+mn-ea"/>
                <a:cs typeface="+mn-cs"/>
              </a:rPr>
              <a:t>Just focus on values and text reflecting values. Please ignore other differences not caused by values, such as language style (colloquial vs. written, formal vs. casual), text format and structure (paragraphing, punctuation conventions, etc.), and length. These issues are not within the scope of annotation.</a:t>
            </a:r>
          </a:p>
        </p:txBody>
      </p:sp>
      <p:sp>
        <p:nvSpPr>
          <p:cNvPr id="4" name="Slide Number Placeholder 3">
            <a:extLst>
              <a:ext uri="{FF2B5EF4-FFF2-40B4-BE49-F238E27FC236}">
                <a16:creationId xmlns:a16="http://schemas.microsoft.com/office/drawing/2014/main" id="{F0E8D837-244C-0E8F-6A1D-20D705CB8DA4}"/>
              </a:ext>
            </a:extLst>
          </p:cNvPr>
          <p:cNvSpPr>
            <a:spLocks noGrp="1"/>
          </p:cNvSpPr>
          <p:nvPr>
            <p:ph type="sldNum" sz="quarter" idx="5"/>
          </p:nvPr>
        </p:nvSpPr>
        <p:spPr/>
        <p:txBody>
          <a:bodyPr/>
          <a:lstStyle/>
          <a:p>
            <a:fld id="{1817C494-4730-4793-9545-3295A53E60EF}" type="slidenum">
              <a:rPr lang="en-US" smtClean="0"/>
              <a:t>8</a:t>
            </a:fld>
            <a:endParaRPr lang="en-US"/>
          </a:p>
        </p:txBody>
      </p:sp>
    </p:spTree>
    <p:extLst>
      <p:ext uri="{BB962C8B-B14F-4D97-AF65-F5344CB8AC3E}">
        <p14:creationId xmlns:p14="http://schemas.microsoft.com/office/powerpoint/2010/main" val="1364716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0519C-B31C-A108-39A5-BA66B75D6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C1E65-B22B-5E84-1E16-A12F49A272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EB2F8D-9018-7D5D-F5A4-6B2B36B7A303}"/>
              </a:ext>
            </a:extLst>
          </p:cNvPr>
          <p:cNvSpPr>
            <a:spLocks noGrp="1"/>
          </p:cNvSpPr>
          <p:nvPr>
            <p:ph type="body" idx="1"/>
          </p:nvPr>
        </p:nvSpPr>
        <p:spPr/>
        <p:txBody>
          <a:bodyPr/>
          <a:lstStyle/>
          <a:p>
            <a:r>
              <a:rPr lang="en-US" dirty="0"/>
              <a:t>Step 6 is personal annotation.</a:t>
            </a:r>
          </a:p>
          <a:p>
            <a:r>
              <a:rPr lang="en-US" dirty="0"/>
              <a:t>Repeat the same workflow as Step 5.</a:t>
            </a:r>
          </a:p>
          <a:p>
            <a:r>
              <a:rPr lang="en-US" dirty="0"/>
              <a:t>But this time:</a:t>
            </a:r>
          </a:p>
          <a:p>
            <a:r>
              <a:rPr lang="en-US" dirty="0"/>
              <a:t>use your own personal values</a:t>
            </a:r>
          </a:p>
          <a:p>
            <a:endParaRPr lang="en-US" dirty="0"/>
          </a:p>
          <a:p>
            <a:r>
              <a:rPr lang="en-US" sz="1200" kern="1200" dirty="0">
                <a:solidFill>
                  <a:schemeClr val="tx1"/>
                </a:solidFill>
                <a:effectLst/>
                <a:latin typeface="+mn-lt"/>
                <a:ea typeface="+mn-ea"/>
                <a:cs typeface="+mn-cs"/>
              </a:rPr>
              <a:t>Ground your annotation on: </a:t>
            </a:r>
          </a:p>
          <a:p>
            <a:pPr lvl="0"/>
            <a:r>
              <a:rPr lang="en-US" sz="1200" kern="1200" dirty="0">
                <a:solidFill>
                  <a:schemeClr val="tx1"/>
                </a:solidFill>
                <a:effectLst/>
                <a:latin typeface="+mn-lt"/>
                <a:ea typeface="+mn-ea"/>
                <a:cs typeface="+mn-cs"/>
              </a:rPr>
              <a:t>Whether the values and texts align with your own personal values and behavior practices.</a:t>
            </a:r>
          </a:p>
          <a:p>
            <a:pPr lvl="0"/>
            <a:r>
              <a:rPr lang="en-US" sz="1200" kern="1200" dirty="0">
                <a:solidFill>
                  <a:schemeClr val="tx1"/>
                </a:solidFill>
                <a:effectLst/>
                <a:latin typeface="+mn-lt"/>
                <a:ea typeface="+mn-ea"/>
                <a:cs typeface="+mn-cs"/>
              </a:rPr>
              <a:t>NOT the mainstream values in your culture.</a:t>
            </a:r>
          </a:p>
          <a:p>
            <a:r>
              <a:rPr lang="en-US" dirty="0"/>
              <a:t>Do not mix the two.</a:t>
            </a:r>
          </a:p>
          <a:p>
            <a:endParaRPr lang="en-US" dirty="0"/>
          </a:p>
          <a:p>
            <a:endParaRPr lang="en-US" dirty="0"/>
          </a:p>
          <a:p>
            <a:r>
              <a:rPr lang="en-US" dirty="0"/>
              <a:t>After finishing, click “Submit”.</a:t>
            </a:r>
          </a:p>
          <a:p>
            <a:r>
              <a:rPr lang="en-US" dirty="0"/>
              <a:t>Then click “Create New” to continue.</a:t>
            </a:r>
          </a:p>
          <a:p>
            <a:endParaRPr lang="en-US" dirty="0"/>
          </a:p>
          <a:p>
            <a:r>
              <a:rPr lang="en-US" dirty="0"/>
              <a:t>You need to complete:</a:t>
            </a:r>
          </a:p>
          <a:p>
            <a:r>
              <a:rPr lang="en-US" dirty="0"/>
              <a:t>at least 12 samples</a:t>
            </a:r>
            <a:br>
              <a:rPr lang="en-US" dirty="0"/>
            </a:br>
            <a:r>
              <a:rPr lang="en-US" dirty="0"/>
              <a:t>or </a:t>
            </a:r>
          </a:p>
          <a:p>
            <a:r>
              <a:rPr lang="en-US" dirty="0"/>
              <a:t>Until 3 hours of annotation</a:t>
            </a:r>
          </a:p>
        </p:txBody>
      </p:sp>
      <p:sp>
        <p:nvSpPr>
          <p:cNvPr id="4" name="Slide Number Placeholder 3">
            <a:extLst>
              <a:ext uri="{FF2B5EF4-FFF2-40B4-BE49-F238E27FC236}">
                <a16:creationId xmlns:a16="http://schemas.microsoft.com/office/drawing/2014/main" id="{381AC3E9-ADB0-D235-23B2-18D90DC188F2}"/>
              </a:ext>
            </a:extLst>
          </p:cNvPr>
          <p:cNvSpPr>
            <a:spLocks noGrp="1"/>
          </p:cNvSpPr>
          <p:nvPr>
            <p:ph type="sldNum" sz="quarter" idx="5"/>
          </p:nvPr>
        </p:nvSpPr>
        <p:spPr/>
        <p:txBody>
          <a:bodyPr/>
          <a:lstStyle/>
          <a:p>
            <a:fld id="{1817C494-4730-4793-9545-3295A53E60EF}" type="slidenum">
              <a:rPr lang="en-US" smtClean="0"/>
              <a:t>9</a:t>
            </a:fld>
            <a:endParaRPr lang="en-US"/>
          </a:p>
        </p:txBody>
      </p:sp>
    </p:spTree>
    <p:extLst>
      <p:ext uri="{BB962C8B-B14F-4D97-AF65-F5344CB8AC3E}">
        <p14:creationId xmlns:p14="http://schemas.microsoft.com/office/powerpoint/2010/main" val="4028675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7F23F-80C4-3E4F-508F-3BF079CF1C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BC86D0-8866-FEF6-EF96-E19F7F6FBE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D830C6-2FDB-FB90-404D-4042FFF90515}"/>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5" name="Footer Placeholder 4">
            <a:extLst>
              <a:ext uri="{FF2B5EF4-FFF2-40B4-BE49-F238E27FC236}">
                <a16:creationId xmlns:a16="http://schemas.microsoft.com/office/drawing/2014/main" id="{64927769-D473-5A03-B077-15FC046D3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B9946-AA93-4AFC-8295-A7B50DDD97CF}"/>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50082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38F6B-64A5-985D-ABDF-A3E6F625D3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CD547E-BA31-AEE9-0845-483C3D3760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E4B5A4-BEDE-B9D2-6C76-1A922041F15E}"/>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5" name="Footer Placeholder 4">
            <a:extLst>
              <a:ext uri="{FF2B5EF4-FFF2-40B4-BE49-F238E27FC236}">
                <a16:creationId xmlns:a16="http://schemas.microsoft.com/office/drawing/2014/main" id="{7FC8FFE9-57BB-A63D-AB15-09D7504AB3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1099A-78E4-A012-8DA9-43E02F718188}"/>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45453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AE66-EDF4-DBCA-E1DA-8C41CFDEEA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1DD991-EA82-A415-F107-E4FAA2BA5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A382FC-C118-8B1C-460D-B1B7B78B9A1C}"/>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5" name="Footer Placeholder 4">
            <a:extLst>
              <a:ext uri="{FF2B5EF4-FFF2-40B4-BE49-F238E27FC236}">
                <a16:creationId xmlns:a16="http://schemas.microsoft.com/office/drawing/2014/main" id="{5D5207E6-9349-154E-B0EC-559038FF8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985F1-4FD8-029F-D470-14C53C2F3424}"/>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366741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CCE30-2138-9A76-5053-DA25E115D0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A6706B-5D41-80F8-5448-1C5ABE39E0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62CFD2-5B33-83C0-A3C2-97553F7E86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2C7D35-AF68-C828-AA8F-C1A117729925}"/>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6" name="Footer Placeholder 5">
            <a:extLst>
              <a:ext uri="{FF2B5EF4-FFF2-40B4-BE49-F238E27FC236}">
                <a16:creationId xmlns:a16="http://schemas.microsoft.com/office/drawing/2014/main" id="{EC1076E8-E6AC-5B20-888A-C68311BFBC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1ACA4-49F3-E8E0-B6BF-19E5AAD748C2}"/>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66622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8CFFB-02E4-2AD8-923D-421E9F2834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10196A-5EAB-018E-B8C1-16F7F6099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E65258-1C49-128D-1F6A-186838EB19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38261C-D2B2-C3E9-68F4-BA445DBA3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89C00-17DE-196A-6BD1-4884C10E45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90F2B5-E3B8-3D61-175B-2ACC891A6389}"/>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8" name="Footer Placeholder 7">
            <a:extLst>
              <a:ext uri="{FF2B5EF4-FFF2-40B4-BE49-F238E27FC236}">
                <a16:creationId xmlns:a16="http://schemas.microsoft.com/office/drawing/2014/main" id="{9320544E-DCA6-61B3-23FF-784C8F3D04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4C32B8-F596-B88B-08BC-DCDCFD562AFD}"/>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4078383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492D1-9D10-F26A-0BBC-53F8DF0E3A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079D55-778D-F82F-6476-E7FA9AE57C58}"/>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4" name="Footer Placeholder 3">
            <a:extLst>
              <a:ext uri="{FF2B5EF4-FFF2-40B4-BE49-F238E27FC236}">
                <a16:creationId xmlns:a16="http://schemas.microsoft.com/office/drawing/2014/main" id="{3B582FDB-C8C8-0FC1-4E1D-0078C6D223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786EB3-6CC4-C529-5866-0FBE55E37503}"/>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948013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E9A830-AFFB-8AE8-9620-69D397142E74}"/>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3" name="Footer Placeholder 2">
            <a:extLst>
              <a:ext uri="{FF2B5EF4-FFF2-40B4-BE49-F238E27FC236}">
                <a16:creationId xmlns:a16="http://schemas.microsoft.com/office/drawing/2014/main" id="{83A5B7C2-9A92-B44E-893E-9529C6ADB0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31B5E1-2B8A-3404-4FC2-68A8575E3A70}"/>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37815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C967-81A4-0B8C-9DC2-89F79085F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06DCE9-0C5C-9389-B3B6-3BDAE06919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57A989-D45E-2B7A-750B-FA722D98B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462A47-4ECB-0173-F8DF-E5838031FF0A}"/>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6" name="Footer Placeholder 5">
            <a:extLst>
              <a:ext uri="{FF2B5EF4-FFF2-40B4-BE49-F238E27FC236}">
                <a16:creationId xmlns:a16="http://schemas.microsoft.com/office/drawing/2014/main" id="{419F1556-FE40-4F04-F4DA-5DFC799B5B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99BCBE-AE5A-CC77-3B87-D4BEE42E5BE9}"/>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083333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403D-4F1C-0518-EC7F-B72FE9048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739C96-0245-9E9C-A56F-EC1F15A7BC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C01562-6A64-BFD7-700E-4F174B952B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EC31CF-B71B-76A2-A7DD-FB31CB759F7B}"/>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6" name="Footer Placeholder 5">
            <a:extLst>
              <a:ext uri="{FF2B5EF4-FFF2-40B4-BE49-F238E27FC236}">
                <a16:creationId xmlns:a16="http://schemas.microsoft.com/office/drawing/2014/main" id="{4C500162-91A8-9FAC-683F-4B37B56505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2115B4-F891-28AD-8996-A8E610070A3C}"/>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3170598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98F59-F356-8D66-59DF-A420C32517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1655B0-A7AF-ED90-2B48-C9AC0F4D63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A5150-4B7C-6BCF-94FA-F0B5953AD0C6}"/>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5" name="Footer Placeholder 4">
            <a:extLst>
              <a:ext uri="{FF2B5EF4-FFF2-40B4-BE49-F238E27FC236}">
                <a16:creationId xmlns:a16="http://schemas.microsoft.com/office/drawing/2014/main" id="{B870CDC2-1713-67AD-6880-3C4F1EC92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5D881-AF46-EBF4-90BF-BAC2ED04C3D9}"/>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1948760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82FA39-262E-2305-92F6-175B19A3A7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B7A8D-6EFA-9318-F315-956CE4701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653D6-112F-A2AE-F3C3-8FCE5F895FE4}"/>
              </a:ext>
            </a:extLst>
          </p:cNvPr>
          <p:cNvSpPr>
            <a:spLocks noGrp="1"/>
          </p:cNvSpPr>
          <p:nvPr>
            <p:ph type="dt" sz="half" idx="10"/>
          </p:nvPr>
        </p:nvSpPr>
        <p:spPr/>
        <p:txBody>
          <a:bodyPr/>
          <a:lstStyle/>
          <a:p>
            <a:fld id="{81A60997-56DF-44FB-997C-8C3755B6F122}" type="datetimeFigureOut">
              <a:rPr lang="en-US" smtClean="0"/>
              <a:t>5/28/2026</a:t>
            </a:fld>
            <a:endParaRPr lang="en-US"/>
          </a:p>
        </p:txBody>
      </p:sp>
      <p:sp>
        <p:nvSpPr>
          <p:cNvPr id="5" name="Footer Placeholder 4">
            <a:extLst>
              <a:ext uri="{FF2B5EF4-FFF2-40B4-BE49-F238E27FC236}">
                <a16:creationId xmlns:a16="http://schemas.microsoft.com/office/drawing/2014/main" id="{20899E7D-1195-024B-493E-8E7BE7A7E8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515CBC-D38B-AE94-2104-F6B1D25F0FC6}"/>
              </a:ext>
            </a:extLst>
          </p:cNvPr>
          <p:cNvSpPr>
            <a:spLocks noGrp="1"/>
          </p:cNvSpPr>
          <p:nvPr>
            <p:ph type="sldNum" sz="quarter" idx="12"/>
          </p:nvPr>
        </p:nvSpPr>
        <p:spPr/>
        <p:txBody>
          <a:bodyPr/>
          <a:lstStyle/>
          <a:p>
            <a:fld id="{936E74F9-D56D-4DC6-98E9-C4C8A8ABEFBC}" type="slidenum">
              <a:rPr lang="en-US" smtClean="0"/>
              <a:t>‹#›</a:t>
            </a:fld>
            <a:endParaRPr lang="en-US"/>
          </a:p>
        </p:txBody>
      </p:sp>
    </p:spTree>
    <p:extLst>
      <p:ext uri="{BB962C8B-B14F-4D97-AF65-F5344CB8AC3E}">
        <p14:creationId xmlns:p14="http://schemas.microsoft.com/office/powerpoint/2010/main" val="23900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5A3AA3-1E5A-3FA9-3A8D-9AF9688EF6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AEF705-44E2-072C-0E44-D2B2B59754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398E0C-B897-EFE0-DE8D-A9947E56E4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A60997-56DF-44FB-997C-8C3755B6F122}" type="datetimeFigureOut">
              <a:rPr lang="en-US" smtClean="0"/>
              <a:t>5/28/2026</a:t>
            </a:fld>
            <a:endParaRPr lang="en-US"/>
          </a:p>
        </p:txBody>
      </p:sp>
      <p:sp>
        <p:nvSpPr>
          <p:cNvPr id="5" name="Footer Placeholder 4">
            <a:extLst>
              <a:ext uri="{FF2B5EF4-FFF2-40B4-BE49-F238E27FC236}">
                <a16:creationId xmlns:a16="http://schemas.microsoft.com/office/drawing/2014/main" id="{384CE78E-2305-1064-1FB0-9C5E6D37C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AE4EC6-48C5-A055-B9A6-231AF9DD29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6E74F9-D56D-4DC6-98E9-C4C8A8ABEFBC}" type="slidenum">
              <a:rPr lang="en-US" smtClean="0"/>
              <a:t>‹#›</a:t>
            </a:fld>
            <a:endParaRPr lang="en-US"/>
          </a:p>
        </p:txBody>
      </p:sp>
    </p:spTree>
    <p:extLst>
      <p:ext uri="{BB962C8B-B14F-4D97-AF65-F5344CB8AC3E}">
        <p14:creationId xmlns:p14="http://schemas.microsoft.com/office/powerpoint/2010/main" val="1025191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02E56-ED01-023C-6D7C-50A0797EDC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918F1A-170B-F583-8B2D-6DC7D374D95F}"/>
              </a:ext>
            </a:extLst>
          </p:cNvPr>
          <p:cNvSpPr txBox="1"/>
          <p:nvPr/>
        </p:nvSpPr>
        <p:spPr>
          <a:xfrm>
            <a:off x="4199766" y="2295330"/>
            <a:ext cx="6741932" cy="707886"/>
          </a:xfrm>
          <a:prstGeom prst="rect">
            <a:avLst/>
          </a:prstGeom>
          <a:noFill/>
        </p:spPr>
        <p:txBody>
          <a:bodyPr wrap="square" rtlCol="0">
            <a:spAutoFit/>
          </a:bodyPr>
          <a:lstStyle/>
          <a:p>
            <a:r>
              <a:rPr lang="en-US" sz="4000" dirty="0">
                <a:latin typeface="Segoe UI Semibold" panose="020B0702040204020203" pitchFamily="34" charset="0"/>
                <a:cs typeface="Segoe UI Semibold" panose="020B0702040204020203" pitchFamily="34" charset="0"/>
              </a:rPr>
              <a:t>2. </a:t>
            </a:r>
            <a:r>
              <a:rPr lang="zh-CN" altLang="en-US" sz="4000" dirty="0">
                <a:latin typeface="Segoe UI Semibold" panose="020B0702040204020203" pitchFamily="34" charset="0"/>
                <a:cs typeface="Segoe UI Semibold" panose="020B0702040204020203" pitchFamily="34" charset="0"/>
              </a:rPr>
              <a:t>标注流程</a:t>
            </a:r>
            <a:endParaRPr lang="en-US" sz="4000"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1049761198"/>
      </p:ext>
    </p:extLst>
  </p:cSld>
  <p:clrMapOvr>
    <a:masterClrMapping/>
  </p:clrMapOvr>
  <mc:AlternateContent xmlns:mc="http://schemas.openxmlformats.org/markup-compatibility/2006" xmlns:p14="http://schemas.microsoft.com/office/powerpoint/2010/main">
    <mc:Choice Requires="p14">
      <p:transition spd="slow" p14:dur="2000" advTm="363971"/>
    </mc:Choice>
    <mc:Fallback xmlns="">
      <p:transition spd="slow" advTm="36397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8F86A-13D3-0C50-B8C3-2936A36292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191D91-C8D9-1A69-9408-F8E56405A41D}"/>
              </a:ext>
            </a:extLst>
          </p:cNvPr>
          <p:cNvSpPr txBox="1"/>
          <p:nvPr/>
        </p:nvSpPr>
        <p:spPr>
          <a:xfrm>
            <a:off x="820057" y="315737"/>
            <a:ext cx="9403442" cy="6055247"/>
          </a:xfrm>
          <a:prstGeom prst="rect">
            <a:avLst/>
          </a:prstGeom>
          <a:noFill/>
        </p:spPr>
        <p:txBody>
          <a:bodyPr wrap="square">
            <a:spAutoFit/>
          </a:bodyPr>
          <a:lstStyle/>
          <a:p>
            <a:pPr>
              <a:lnSpc>
                <a:spcPct val="107000"/>
              </a:lnSpc>
              <a:spcAft>
                <a:spcPts val="1200"/>
              </a:spcAft>
              <a:buNone/>
            </a:pPr>
            <a:r>
              <a:rPr lang="zh-CN" sz="2400" b="1" kern="100" dirty="0">
                <a:effectLst/>
                <a:latin typeface="Times New Roman" panose="02020603050405020304" pitchFamily="18" charset="0"/>
                <a:ea typeface="SimSun" panose="02010600030101010101" pitchFamily="2" charset="-122"/>
                <a:cs typeface="Times New Roman" panose="02020603050405020304" pitchFamily="18" charset="0"/>
              </a:rPr>
              <a:t>第</a:t>
            </a:r>
            <a:r>
              <a:rPr lang="en-US" sz="2400" b="1" kern="100" dirty="0">
                <a:effectLst/>
                <a:latin typeface="Times New Roman" panose="02020603050405020304" pitchFamily="18" charset="0"/>
                <a:ea typeface="SimSun" panose="02010600030101010101" pitchFamily="2" charset="-122"/>
                <a:cs typeface="Arial" panose="020B0604020202020204" pitchFamily="34" charset="0"/>
              </a:rPr>
              <a:t>1</a:t>
            </a:r>
            <a:r>
              <a:rPr lang="zh-CN" sz="2400" b="1" kern="100" dirty="0">
                <a:effectLst/>
                <a:latin typeface="Times New Roman" panose="02020603050405020304" pitchFamily="18" charset="0"/>
                <a:ea typeface="SimSun" panose="02010600030101010101" pitchFamily="2" charset="-122"/>
                <a:cs typeface="Times New Roman" panose="02020603050405020304" pitchFamily="18" charset="0"/>
              </a:rPr>
              <a:t>阶段：个人信息与问卷调查</a:t>
            </a:r>
            <a:endParaRPr lang="en-US" altLang="zh-CN"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Bef>
                <a:spcPts val="1200"/>
              </a:spcBef>
              <a:spcAft>
                <a:spcPts val="800"/>
              </a:spcAft>
            </a:pPr>
            <a:r>
              <a:rPr lang="zh-CN" altLang="en-US" kern="100" dirty="0">
                <a:latin typeface="Times New Roman" panose="02020603050405020304" pitchFamily="18" charset="0"/>
                <a:ea typeface="SimSun" panose="02010600030101010101" pitchFamily="2" charset="-122"/>
                <a:cs typeface="Times New Roman" panose="02020603050405020304" pitchFamily="18" charset="0"/>
              </a:rPr>
              <a:t>进入标注平台后，请先设置你的个人信息：</a:t>
            </a:r>
            <a:endParaRPr lang="en-US" kern="100" dirty="0">
              <a:latin typeface="Times New Roman" panose="02020603050405020304" pitchFamily="18" charset="0"/>
              <a:ea typeface="SimSun" panose="02010600030101010101" pitchFamily="2" charset="-122"/>
              <a:cs typeface="Times New Roman" panose="02020603050405020304" pitchFamily="18" charset="0"/>
            </a:endParaRPr>
          </a:p>
          <a:p>
            <a:pPr marL="800100" lvl="1" indent="-342900">
              <a:lnSpc>
                <a:spcPct val="107000"/>
              </a:lnSpc>
              <a:buFont typeface="Symbol" panose="05050102010706020507" pitchFamily="18" charset="2"/>
              <a:buChar char=""/>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用户名</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spcAft>
                <a:spcPts val="800"/>
              </a:spcAft>
              <a:buFont typeface="Symbol" panose="05050102010706020507" pitchFamily="18" charset="2"/>
              <a:buChar char=""/>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国家</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Bef>
                <a:spcPts val="1200"/>
              </a:spcBef>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随后，请完成三份调查问卷：</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Symbol" panose="05050102010706020507" pitchFamily="18" charset="2"/>
              <a:buChar char=""/>
            </a:pPr>
            <a:r>
              <a:rPr lang="en-US" b="1" kern="100" dirty="0">
                <a:effectLst/>
                <a:latin typeface="Times New Roman" panose="02020603050405020304" pitchFamily="18" charset="0"/>
                <a:ea typeface="SimSun" panose="02010600030101010101" pitchFamily="2" charset="-122"/>
                <a:cs typeface="Arial" panose="020B0604020202020204" pitchFamily="34" charset="0"/>
              </a:rPr>
              <a:t>1. </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标注者基础信息问卷</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：包括人口统计信息、</a:t>
            </a:r>
            <a:r>
              <a:rPr lang="en-US" kern="100" dirty="0">
                <a:effectLst/>
                <a:latin typeface="Times New Roman" panose="02020603050405020304" pitchFamily="18" charset="0"/>
                <a:ea typeface="SimSun" panose="02010600030101010101" pitchFamily="2" charset="-122"/>
                <a:cs typeface="Arial" panose="020B0604020202020204" pitchFamily="34" charset="0"/>
              </a:rPr>
              <a:t>LLM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使用情况以及文化身份认同。（预计用时：</a:t>
            </a:r>
            <a:r>
              <a:rPr lang="en-US" kern="100" dirty="0">
                <a:effectLst/>
                <a:latin typeface="Times New Roman" panose="02020603050405020304" pitchFamily="18" charset="0"/>
                <a:ea typeface="SimSun" panose="02010600030101010101" pitchFamily="2" charset="-122"/>
                <a:cs typeface="Arial" panose="020B0604020202020204" pitchFamily="34" charset="0"/>
              </a:rPr>
              <a:t>8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分钟以内）</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Symbol" panose="05050102010706020507" pitchFamily="18" charset="2"/>
              <a:buChar char=""/>
            </a:pPr>
            <a:r>
              <a:rPr lang="en-US" b="1" kern="100" dirty="0">
                <a:effectLst/>
                <a:latin typeface="Times New Roman" panose="02020603050405020304" pitchFamily="18" charset="0"/>
                <a:ea typeface="SimSun" panose="02010600030101010101" pitchFamily="2" charset="-122"/>
                <a:cs typeface="Arial" panose="020B0604020202020204" pitchFamily="34" charset="0"/>
              </a:rPr>
              <a:t>2. Schwartz </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价值观问卷</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（预计用时：</a:t>
            </a:r>
            <a:r>
              <a:rPr lang="en-US" kern="100" dirty="0">
                <a:effectLst/>
                <a:latin typeface="Times New Roman" panose="02020603050405020304" pitchFamily="18" charset="0"/>
                <a:ea typeface="SimSun" panose="02010600030101010101" pitchFamily="2" charset="-122"/>
                <a:cs typeface="Arial" panose="020B0604020202020204" pitchFamily="34" charset="0"/>
              </a:rPr>
              <a:t>8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分钟以内）</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spcAft>
                <a:spcPts val="800"/>
              </a:spcAft>
              <a:buFont typeface="Symbol" panose="05050102010706020507" pitchFamily="18" charset="2"/>
              <a:buChar char=""/>
            </a:pPr>
            <a:r>
              <a:rPr lang="en-US" b="1" kern="100" dirty="0">
                <a:effectLst/>
                <a:latin typeface="Times New Roman" panose="02020603050405020304" pitchFamily="18" charset="0"/>
                <a:ea typeface="SimSun" panose="02010600030101010101" pitchFamily="2" charset="-122"/>
                <a:cs typeface="Arial" panose="020B0604020202020204" pitchFamily="34" charset="0"/>
              </a:rPr>
              <a:t>3. </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文化价值观问卷</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（预计用时：</a:t>
            </a:r>
            <a:r>
              <a:rPr lang="en-US" kern="100" dirty="0">
                <a:effectLst/>
                <a:latin typeface="Times New Roman" panose="02020603050405020304" pitchFamily="18" charset="0"/>
                <a:ea typeface="SimSun" panose="02010600030101010101" pitchFamily="2" charset="-122"/>
                <a:cs typeface="Arial" panose="020B0604020202020204" pitchFamily="34" charset="0"/>
              </a:rPr>
              <a:t>15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分钟以内）</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这些问卷包含两类问题：（</a:t>
            </a:r>
            <a:r>
              <a:rPr lang="en-US" kern="100" dirty="0">
                <a:effectLst/>
                <a:latin typeface="Times New Roman" panose="02020603050405020304" pitchFamily="18" charset="0"/>
                <a:ea typeface="SimSun" panose="02010600030101010101" pitchFamily="2" charset="-122"/>
                <a:cs typeface="Arial" panose="020B0604020202020204" pitchFamily="34" charset="0"/>
              </a:rPr>
              <a:t>1</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）量表评分题；（</a:t>
            </a:r>
            <a:r>
              <a:rPr lang="en-US" kern="100" dirty="0">
                <a:effectLst/>
                <a:latin typeface="Times New Roman" panose="02020603050405020304" pitchFamily="18" charset="0"/>
                <a:ea typeface="SimSun" panose="02010600030101010101" pitchFamily="2" charset="-122"/>
                <a:cs typeface="Arial" panose="020B0604020202020204" pitchFamily="34" charset="0"/>
              </a:rPr>
              <a:t>2</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）关于个人与文化价值偏好的简短描述题。</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Bef>
                <a:spcPts val="1200"/>
              </a:spcBef>
              <a:spcAft>
                <a:spcPts val="800"/>
              </a:spcAft>
            </a:pPr>
            <a:r>
              <a:rPr lang="zh-CN" altLang="en-US" kern="100" dirty="0">
                <a:latin typeface="Times New Roman" panose="02020603050405020304" pitchFamily="18" charset="0"/>
                <a:ea typeface="SimSun" panose="02010600030101010101" pitchFamily="2" charset="-122"/>
                <a:cs typeface="Times New Roman" panose="02020603050405020304" pitchFamily="18" charset="0"/>
              </a:rPr>
              <a:t>预计总用时：</a:t>
            </a:r>
            <a:r>
              <a:rPr lang="en-US" kern="100" dirty="0">
                <a:latin typeface="Times New Roman" panose="02020603050405020304" pitchFamily="18" charset="0"/>
                <a:ea typeface="SimSun" panose="02010600030101010101" pitchFamily="2" charset="-122"/>
                <a:cs typeface="Times New Roman" panose="02020603050405020304" pitchFamily="18" charset="0"/>
              </a:rPr>
              <a:t>25–30 </a:t>
            </a:r>
            <a:r>
              <a:rPr lang="zh-CN" altLang="en-US" kern="100" dirty="0">
                <a:latin typeface="Times New Roman" panose="02020603050405020304" pitchFamily="18" charset="0"/>
                <a:ea typeface="SimSun" panose="02010600030101010101" pitchFamily="2" charset="-122"/>
                <a:cs typeface="Times New Roman" panose="02020603050405020304" pitchFamily="18" charset="0"/>
              </a:rPr>
              <a:t>分钟。</a:t>
            </a:r>
            <a:endParaRPr lang="en-US" kern="100" dirty="0">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endParaRPr lang="en-US" altLang="zh-CN" b="1" kern="100" dirty="0">
              <a:solidFill>
                <a:srgbClr val="EE0000"/>
              </a:solidFill>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r>
              <a:rPr lang="zh-CN" b="1" kern="100" dirty="0">
                <a:solidFill>
                  <a:srgbClr val="EE0000"/>
                </a:solidFill>
                <a:effectLst/>
                <a:latin typeface="Times New Roman" panose="02020603050405020304" pitchFamily="18" charset="0"/>
                <a:ea typeface="SimSun" panose="02010600030101010101" pitchFamily="2" charset="-122"/>
                <a:cs typeface="Times New Roman" panose="02020603050405020304" pitchFamily="18" charset="0"/>
              </a:rPr>
              <a:t>注意：在所有调查问卷中，以及每次重新进入标注平台时，请务必使用与你最初设置拼写完全一致的用户名。</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完成问卷后，点击</a:t>
            </a:r>
            <a:r>
              <a:rPr lang="en-US" kern="100" dirty="0">
                <a:effectLst/>
                <a:latin typeface="Times New Roman" panose="02020603050405020304" pitchFamily="18" charset="0"/>
                <a:ea typeface="SimSun" panose="02010600030101010101" pitchFamily="2" charset="-122"/>
                <a:cs typeface="Arial" panose="020B0604020202020204" pitchFamily="34" charset="0"/>
              </a:rPr>
              <a:t>“Next”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进入标注页面。</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2111392572"/>
      </p:ext>
    </p:extLst>
  </p:cSld>
  <p:clrMapOvr>
    <a:masterClrMapping/>
  </p:clrMapOvr>
  <mc:AlternateContent xmlns:mc="http://schemas.openxmlformats.org/markup-compatibility/2006" xmlns:p14="http://schemas.microsoft.com/office/powerpoint/2010/main">
    <mc:Choice Requires="p14">
      <p:transition spd="slow" p14:dur="2000" advTm="69947"/>
    </mc:Choice>
    <mc:Fallback xmlns="">
      <p:transition spd="slow" advTm="6994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DA464-0F7B-660A-7133-91C78B095E2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19D6E7-DE1B-17FC-5E73-C67F4D6A05EF}"/>
              </a:ext>
            </a:extLst>
          </p:cNvPr>
          <p:cNvSpPr txBox="1"/>
          <p:nvPr/>
        </p:nvSpPr>
        <p:spPr>
          <a:xfrm>
            <a:off x="723900" y="463187"/>
            <a:ext cx="10466614" cy="5354223"/>
          </a:xfrm>
          <a:prstGeom prst="rect">
            <a:avLst/>
          </a:prstGeom>
          <a:noFill/>
        </p:spPr>
        <p:txBody>
          <a:bodyPr wrap="square">
            <a:spAutoFit/>
          </a:bodyPr>
          <a:lstStyle/>
          <a:p>
            <a:pPr>
              <a:lnSpc>
                <a:spcPct val="107000"/>
              </a:lnSpc>
              <a:spcAft>
                <a:spcPts val="800"/>
              </a:spcAft>
              <a:buNone/>
            </a:pPr>
            <a:r>
              <a:rPr lang="zh-CN" sz="2400" b="1" kern="100" dirty="0">
                <a:effectLst/>
                <a:latin typeface="Times New Roman" panose="02020603050405020304" pitchFamily="18" charset="0"/>
                <a:ea typeface="SimSun" panose="02010600030101010101" pitchFamily="2" charset="-122"/>
                <a:cs typeface="Times New Roman" panose="02020603050405020304" pitchFamily="18" charset="0"/>
              </a:rPr>
              <a:t>第</a:t>
            </a:r>
            <a:r>
              <a:rPr lang="en-US" sz="2400" b="1" kern="100" dirty="0">
                <a:effectLst/>
                <a:latin typeface="Times New Roman" panose="02020603050405020304" pitchFamily="18" charset="0"/>
                <a:ea typeface="SimSun" panose="02010600030101010101" pitchFamily="2" charset="-122"/>
                <a:cs typeface="Arial" panose="020B0604020202020204" pitchFamily="34" charset="0"/>
              </a:rPr>
              <a:t>2</a:t>
            </a:r>
            <a:r>
              <a:rPr lang="zh-CN" sz="2400" b="1" kern="100" dirty="0">
                <a:effectLst/>
                <a:latin typeface="Times New Roman" panose="02020603050405020304" pitchFamily="18" charset="0"/>
                <a:ea typeface="SimSun" panose="02010600030101010101" pitchFamily="2" charset="-122"/>
                <a:cs typeface="Times New Roman" panose="02020603050405020304" pitchFamily="18" charset="0"/>
              </a:rPr>
              <a:t>阶段：文化价值观数据标注（核心任务</a:t>
            </a:r>
            <a:r>
              <a:rPr lang="zh-CN" altLang="en-US" sz="2400" b="1" kern="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altLang="zh-CN" sz="2400" b="1" kern="100" dirty="0">
                <a:effectLst/>
                <a:latin typeface="Times New Roman" panose="02020603050405020304" pitchFamily="18" charset="0"/>
                <a:ea typeface="SimSun" panose="02010600030101010101" pitchFamily="2" charset="-122"/>
                <a:cs typeface="Times New Roman" panose="02020603050405020304" pitchFamily="18" charset="0"/>
              </a:rPr>
              <a:t>10-15</a:t>
            </a:r>
            <a:r>
              <a:rPr lang="zh-CN" altLang="en-US" sz="2400" b="1" kern="100" dirty="0">
                <a:effectLst/>
                <a:latin typeface="Times New Roman" panose="02020603050405020304" pitchFamily="18" charset="0"/>
                <a:ea typeface="SimSun" panose="02010600030101010101" pitchFamily="2" charset="-122"/>
                <a:cs typeface="Times New Roman" panose="02020603050405020304" pitchFamily="18" charset="0"/>
              </a:rPr>
              <a:t>分钟</a:t>
            </a:r>
            <a:r>
              <a:rPr lang="en-US" altLang="zh-CN" sz="2400" b="1" kern="100" dirty="0">
                <a:effectLst/>
                <a:latin typeface="Times New Roman" panose="02020603050405020304" pitchFamily="18" charset="0"/>
                <a:ea typeface="SimSun" panose="02010600030101010101" pitchFamily="2" charset="-122"/>
                <a:cs typeface="Times New Roman" panose="02020603050405020304" pitchFamily="18" charset="0"/>
              </a:rPr>
              <a:t>/</a:t>
            </a:r>
            <a:r>
              <a:rPr lang="zh-CN" altLang="en-US" sz="2400" b="1" kern="100" dirty="0">
                <a:effectLst/>
                <a:latin typeface="Times New Roman" panose="02020603050405020304" pitchFamily="18" charset="0"/>
                <a:ea typeface="SimSun" panose="02010600030101010101" pitchFamily="2" charset="-122"/>
                <a:cs typeface="Times New Roman" panose="02020603050405020304" pitchFamily="18" charset="0"/>
              </a:rPr>
              <a:t>条</a:t>
            </a:r>
            <a:r>
              <a:rPr lang="zh-CN" sz="2400" b="1" kern="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Bef>
                <a:spcPts val="1200"/>
              </a:spcBef>
              <a:spcAft>
                <a:spcPts val="800"/>
              </a:spcAft>
              <a:buNone/>
            </a:pP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本标注任务旨在收集开放式的、符合文化价值观的文本数据，具体包括以下</a:t>
            </a:r>
            <a:r>
              <a:rPr lang="en-US" sz="2000" kern="100" dirty="0">
                <a:effectLst/>
                <a:latin typeface="Times New Roman" panose="02020603050405020304" pitchFamily="18" charset="0"/>
                <a:ea typeface="SimSun" panose="02010600030101010101" pitchFamily="2" charset="-122"/>
                <a:cs typeface="Arial" panose="020B0604020202020204" pitchFamily="34" charset="0"/>
              </a:rPr>
              <a:t> 6 </a:t>
            </a: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个步骤。</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Bef>
                <a:spcPts val="1200"/>
              </a:spcBef>
              <a:spcAft>
                <a:spcPts val="800"/>
              </a:spcAft>
              <a:buNone/>
            </a:pP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步骤</a:t>
            </a:r>
            <a:r>
              <a:rPr lang="en-US" sz="2000" b="1" kern="100" dirty="0">
                <a:effectLst/>
                <a:latin typeface="Times New Roman" panose="02020603050405020304" pitchFamily="18" charset="0"/>
                <a:ea typeface="SimSun" panose="02010600030101010101" pitchFamily="2" charset="-122"/>
                <a:cs typeface="Arial" panose="020B0604020202020204" pitchFamily="34" charset="0"/>
              </a:rPr>
              <a:t> 1</a:t>
            </a: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：选择主题以生成价值观相关问题</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请先选择一级主题，再选择二级子主题。</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endParaRPr lang="en-US" altLang="zh-CN" sz="1800" b="1"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r>
              <a:rPr lang="zh-CN" sz="1800" b="1" kern="100" dirty="0">
                <a:effectLst/>
                <a:latin typeface="Times New Roman" panose="02020603050405020304" pitchFamily="18" charset="0"/>
                <a:ea typeface="SimSun" panose="02010600030101010101" pitchFamily="2" charset="-122"/>
                <a:cs typeface="Times New Roman" panose="02020603050405020304" pitchFamily="18" charset="0"/>
              </a:rPr>
              <a:t>优先选择</a:t>
            </a: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以下类型的主题：</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mj-lt"/>
              <a:buAutoNum type="arabicParenBoth"/>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在你的文化中受到广泛关注，并且在现实生活中经常出现。</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mj-lt"/>
              <a:buAutoNum type="arabicParenBoth"/>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能够引发关于价值观、社会规范或行为原则的讨论。</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mj-lt"/>
              <a:buAutoNum type="arabicParenBoth"/>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你的文化在该主题下展现出区别于其他文化的特点。</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spcAft>
                <a:spcPts val="800"/>
              </a:spcAft>
              <a:buFont typeface="+mj-lt"/>
              <a:buAutoNum type="arabicParenBoth"/>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你熟悉自己文化在该主题下的价值观特点。</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endParaRPr lang="en-US" altLang="zh-CN" sz="18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如果你认为现有的二级主题都不符合要求，也可以自行创建新的二级主题。</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1200"/>
              </a:spcAft>
              <a:buNone/>
            </a:pP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注意：</a:t>
            </a: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每位标注者不得在同一个二级主题下重复标注。</a:t>
            </a:r>
            <a:endParaRPr lang="en-US" sz="1800" kern="100" dirty="0">
              <a:effectLst/>
              <a:latin typeface="Calibri" panose="020F050202020403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1116761022"/>
      </p:ext>
    </p:extLst>
  </p:cSld>
  <p:clrMapOvr>
    <a:masterClrMapping/>
  </p:clrMapOvr>
  <mc:AlternateContent xmlns:mc="http://schemas.openxmlformats.org/markup-compatibility/2006" xmlns:p14="http://schemas.microsoft.com/office/powerpoint/2010/main">
    <mc:Choice Requires="p14">
      <p:transition spd="slow" p14:dur="2000" advTm="47959"/>
    </mc:Choice>
    <mc:Fallback xmlns="">
      <p:transition spd="slow" advTm="4795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22739-0308-AC8E-B431-333D46619B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6AB659-6FBD-EB01-07E8-80E72131EF21}"/>
              </a:ext>
            </a:extLst>
          </p:cNvPr>
          <p:cNvSpPr txBox="1"/>
          <p:nvPr/>
        </p:nvSpPr>
        <p:spPr>
          <a:xfrm>
            <a:off x="791028" y="611917"/>
            <a:ext cx="12453257" cy="5567999"/>
          </a:xfrm>
          <a:prstGeom prst="rect">
            <a:avLst/>
          </a:prstGeom>
          <a:noFill/>
        </p:spPr>
        <p:txBody>
          <a:bodyPr wrap="square">
            <a:spAutoFit/>
          </a:bodyPr>
          <a:lstStyle/>
          <a:p>
            <a:pPr>
              <a:lnSpc>
                <a:spcPct val="107000"/>
              </a:lnSpc>
              <a:spcAft>
                <a:spcPts val="800"/>
              </a:spcAft>
              <a:buNone/>
            </a:pP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步骤</a:t>
            </a:r>
            <a:r>
              <a:rPr lang="en-US" sz="2000" b="1" kern="100" dirty="0">
                <a:effectLst/>
                <a:latin typeface="Times New Roman" panose="02020603050405020304" pitchFamily="18" charset="0"/>
                <a:ea typeface="SimSun" panose="02010600030101010101" pitchFamily="2" charset="-122"/>
                <a:cs typeface="Arial" panose="020B0604020202020204" pitchFamily="34" charset="0"/>
              </a:rPr>
              <a:t> 2</a:t>
            </a: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：列出在你的文化中该主题下的关键准则</a:t>
            </a:r>
            <a:r>
              <a:rPr lang="en-US" sz="2000" b="1" kern="100" dirty="0">
                <a:effectLst/>
                <a:latin typeface="Times New Roman" panose="02020603050405020304" pitchFamily="18" charset="0"/>
                <a:ea typeface="SimSun" panose="02010600030101010101" pitchFamily="2" charset="-122"/>
                <a:cs typeface="Arial" panose="020B0604020202020204" pitchFamily="34" charset="0"/>
              </a:rPr>
              <a:t>/</a:t>
            </a: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社会规范</a:t>
            </a:r>
            <a:endParaRPr lang="en-US" b="1"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请列出</a:t>
            </a:r>
            <a:r>
              <a:rPr lang="en-US" kern="100" dirty="0">
                <a:effectLst/>
                <a:latin typeface="Times New Roman" panose="02020603050405020304" pitchFamily="18" charset="0"/>
                <a:ea typeface="SimSun" panose="02010600030101010101" pitchFamily="2" charset="-122"/>
                <a:cs typeface="Arial" panose="020B0604020202020204" pitchFamily="34" charset="0"/>
              </a:rPr>
              <a:t> 3–5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条原则，用来描述在这一主题下，你的文化中的人通常如何思考或如何行动。</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可参考以下模板：</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Symbol" panose="05050102010706020507" pitchFamily="18" charset="2"/>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a:t>
            </a:r>
            <a:r>
              <a:rPr lang="en-US" kern="100" dirty="0">
                <a:effectLst/>
                <a:latin typeface="Times New Roman" panose="02020603050405020304" pitchFamily="18" charset="0"/>
                <a:ea typeface="SimSun" panose="02010600030101010101" pitchFamily="2" charset="-122"/>
                <a:cs typeface="Arial" panose="020B0604020202020204" pitchFamily="34" charset="0"/>
              </a:rPr>
              <a:t> &lt;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主题</a:t>
            </a:r>
            <a:r>
              <a:rPr lang="en-US" kern="100" dirty="0">
                <a:effectLst/>
                <a:latin typeface="Times New Roman" panose="02020603050405020304" pitchFamily="18" charset="0"/>
                <a:ea typeface="SimSun" panose="02010600030101010101" pitchFamily="2" charset="-122"/>
                <a:cs typeface="Arial" panose="020B0604020202020204" pitchFamily="34" charset="0"/>
              </a:rPr>
              <a:t>&gt;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下，人们被鼓励去做</a:t>
            </a:r>
            <a:r>
              <a:rPr lang="en-US" kern="100" dirty="0">
                <a:effectLst/>
                <a:latin typeface="Times New Roman" panose="02020603050405020304" pitchFamily="18" charset="0"/>
                <a:ea typeface="SimSun" panose="02010600030101010101" pitchFamily="2" charset="-122"/>
                <a:cs typeface="Arial" panose="020B0604020202020204" pitchFamily="34" charset="0"/>
              </a:rPr>
              <a:t>……</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Symbol" panose="05050102010706020507" pitchFamily="18" charset="2"/>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a:t>
            </a:r>
            <a:r>
              <a:rPr lang="en-US" kern="100" dirty="0">
                <a:effectLst/>
                <a:latin typeface="Times New Roman" panose="02020603050405020304" pitchFamily="18" charset="0"/>
                <a:ea typeface="SimSun" panose="02010600030101010101" pitchFamily="2" charset="-122"/>
                <a:cs typeface="Arial" panose="020B0604020202020204" pitchFamily="34" charset="0"/>
              </a:rPr>
              <a:t> &lt;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主题</a:t>
            </a:r>
            <a:r>
              <a:rPr lang="en-US" kern="100" dirty="0">
                <a:effectLst/>
                <a:latin typeface="Times New Roman" panose="02020603050405020304" pitchFamily="18" charset="0"/>
                <a:ea typeface="SimSun" panose="02010600030101010101" pitchFamily="2" charset="-122"/>
                <a:cs typeface="Arial" panose="020B0604020202020204" pitchFamily="34" charset="0"/>
              </a:rPr>
              <a:t>&gt;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下，人们应避免</a:t>
            </a:r>
            <a:r>
              <a:rPr lang="en-US" kern="100" dirty="0">
                <a:effectLst/>
                <a:latin typeface="Times New Roman" panose="02020603050405020304" pitchFamily="18" charset="0"/>
                <a:ea typeface="SimSun" panose="02010600030101010101" pitchFamily="2" charset="-122"/>
                <a:cs typeface="Arial" panose="020B0604020202020204" pitchFamily="34" charset="0"/>
              </a:rPr>
              <a:t>……</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Symbol" panose="05050102010706020507" pitchFamily="18" charset="2"/>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a:t>
            </a:r>
            <a:r>
              <a:rPr lang="en-US" kern="100" dirty="0">
                <a:effectLst/>
                <a:latin typeface="Times New Roman" panose="02020603050405020304" pitchFamily="18" charset="0"/>
                <a:ea typeface="SimSun" panose="02010600030101010101" pitchFamily="2" charset="-122"/>
                <a:cs typeface="Arial" panose="020B0604020202020204" pitchFamily="34" charset="0"/>
              </a:rPr>
              <a:t> &lt;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主题</a:t>
            </a:r>
            <a:r>
              <a:rPr lang="en-US" kern="100" dirty="0">
                <a:effectLst/>
                <a:latin typeface="Times New Roman" panose="02020603050405020304" pitchFamily="18" charset="0"/>
                <a:ea typeface="SimSun" panose="02010600030101010101" pitchFamily="2" charset="-122"/>
                <a:cs typeface="Arial" panose="020B0604020202020204" pitchFamily="34" charset="0"/>
              </a:rPr>
              <a:t>&gt;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下，</a:t>
            </a:r>
            <a:r>
              <a:rPr lang="en-US" kern="100" dirty="0">
                <a:effectLst/>
                <a:latin typeface="Times New Roman" panose="02020603050405020304" pitchFamily="18" charset="0"/>
                <a:ea typeface="SimSun" panose="02010600030101010101" pitchFamily="2" charset="-122"/>
                <a:cs typeface="Arial" panose="020B0604020202020204" pitchFamily="34" charset="0"/>
              </a:rPr>
              <a: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被认为是正确／恰当／合宜的。</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Symbol" panose="05050102010706020507" pitchFamily="18" charset="2"/>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a:t>
            </a:r>
            <a:r>
              <a:rPr lang="en-US" kern="100" dirty="0">
                <a:effectLst/>
                <a:latin typeface="Times New Roman" panose="02020603050405020304" pitchFamily="18" charset="0"/>
                <a:ea typeface="SimSun" panose="02010600030101010101" pitchFamily="2" charset="-122"/>
                <a:cs typeface="Arial" panose="020B0604020202020204" pitchFamily="34" charset="0"/>
              </a:rPr>
              <a:t> &lt;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主题</a:t>
            </a:r>
            <a:r>
              <a:rPr lang="en-US" kern="100" dirty="0">
                <a:effectLst/>
                <a:latin typeface="Times New Roman" panose="02020603050405020304" pitchFamily="18" charset="0"/>
                <a:ea typeface="SimSun" panose="02010600030101010101" pitchFamily="2" charset="-122"/>
                <a:cs typeface="Arial" panose="020B0604020202020204" pitchFamily="34" charset="0"/>
              </a:rPr>
              <a:t>&gt;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下，</a:t>
            </a:r>
            <a:r>
              <a:rPr lang="en-US" kern="100" dirty="0">
                <a:effectLst/>
                <a:latin typeface="Times New Roman" panose="02020603050405020304" pitchFamily="18" charset="0"/>
                <a:ea typeface="SimSun" panose="02010600030101010101" pitchFamily="2" charset="-122"/>
                <a:cs typeface="Arial" panose="020B0604020202020204" pitchFamily="34" charset="0"/>
              </a:rPr>
              <a: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被认为是不正确／不恰当的，或应当避免。</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spcAft>
                <a:spcPts val="800"/>
              </a:spcAft>
              <a:buFont typeface="Symbol" panose="05050102010706020507" pitchFamily="18" charset="2"/>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a:t>
            </a:r>
            <a:r>
              <a:rPr lang="en-US" kern="100" dirty="0">
                <a:effectLst/>
                <a:latin typeface="Times New Roman" panose="02020603050405020304" pitchFamily="18" charset="0"/>
                <a:ea typeface="SimSun" panose="02010600030101010101" pitchFamily="2" charset="-122"/>
                <a:cs typeface="Arial" panose="020B0604020202020204" pitchFamily="34" charset="0"/>
              </a:rPr>
              <a:t> &lt;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主题</a:t>
            </a:r>
            <a:r>
              <a:rPr lang="en-US" kern="100" dirty="0">
                <a:effectLst/>
                <a:latin typeface="Times New Roman" panose="02020603050405020304" pitchFamily="18" charset="0"/>
                <a:ea typeface="SimSun" panose="02010600030101010101" pitchFamily="2" charset="-122"/>
                <a:cs typeface="Arial" panose="020B0604020202020204" pitchFamily="34" charset="0"/>
              </a:rPr>
              <a:t>&gt;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下，人们通常会选择做</a:t>
            </a:r>
            <a:r>
              <a:rPr lang="en-US" kern="100" dirty="0">
                <a:effectLst/>
                <a:latin typeface="Times New Roman" panose="02020603050405020304" pitchFamily="18" charset="0"/>
                <a:ea typeface="SimSun" panose="02010600030101010101" pitchFamily="2" charset="-122"/>
                <a:cs typeface="Arial" panose="020B0604020202020204" pitchFamily="34" charset="0"/>
              </a:rPr>
              <a:t> A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而不是</a:t>
            </a:r>
            <a:r>
              <a:rPr lang="en-US" kern="100" dirty="0">
                <a:effectLst/>
                <a:latin typeface="Times New Roman" panose="02020603050405020304" pitchFamily="18" charset="0"/>
                <a:ea typeface="SimSun" panose="02010600030101010101" pitchFamily="2" charset="-122"/>
                <a:cs typeface="Arial" panose="020B0604020202020204" pitchFamily="34" charset="0"/>
              </a:rPr>
              <a:t> B</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5000"/>
              </a:lnSpc>
              <a:spcAft>
                <a:spcPts val="800"/>
              </a:spcAft>
              <a:buNone/>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请按重要性排序</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（最重要的写在最前面）</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5000"/>
              </a:lnSpc>
              <a:spcAft>
                <a:spcPts val="800"/>
              </a:spcAft>
              <a:buNone/>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不要重复。</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b="1" kern="100" dirty="0">
                <a:solidFill>
                  <a:srgbClr val="EE0000"/>
                </a:solidFill>
                <a:effectLst/>
                <a:latin typeface="Times New Roman" panose="02020603050405020304" pitchFamily="18" charset="0"/>
                <a:ea typeface="SimSun" panose="02010600030101010101" pitchFamily="2" charset="-122"/>
                <a:cs typeface="Times New Roman" panose="02020603050405020304" pitchFamily="18" charset="0"/>
              </a:rPr>
              <a:t>示例：</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b="1" kern="100" dirty="0">
                <a:solidFill>
                  <a:srgbClr val="EE0000"/>
                </a:solidFill>
                <a:effectLst/>
                <a:latin typeface="Times New Roman" panose="02020603050405020304" pitchFamily="18" charset="0"/>
                <a:ea typeface="SimSun" panose="02010600030101010101" pitchFamily="2" charset="-122"/>
                <a:cs typeface="Times New Roman" panose="02020603050405020304" pitchFamily="18" charset="0"/>
              </a:rPr>
              <a:t>【主题：亲子关系】</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原则</a:t>
            </a:r>
            <a:r>
              <a:rPr lang="en-US" kern="100" dirty="0">
                <a:effectLst/>
                <a:latin typeface="Times New Roman" panose="02020603050405020304" pitchFamily="18" charset="0"/>
                <a:ea typeface="SimSun" panose="02010600030101010101" pitchFamily="2" charset="-122"/>
                <a:cs typeface="Arial" panose="020B0604020202020204" pitchFamily="34" charset="0"/>
              </a:rPr>
              <a:t> 1</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：在这一情境中，中国人被鼓励在父母权威与关爱、引导和道德教育之间保持平衡。</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原则</a:t>
            </a:r>
            <a:r>
              <a:rPr lang="en-US" kern="100" dirty="0">
                <a:effectLst/>
                <a:latin typeface="Times New Roman" panose="02020603050405020304" pitchFamily="18" charset="0"/>
                <a:ea typeface="SimSun" panose="02010600030101010101" pitchFamily="2" charset="-122"/>
                <a:cs typeface="Arial" panose="020B0604020202020204" pitchFamily="34" charset="0"/>
              </a:rPr>
              <a:t> 2</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：在这一情境中，成年子女通常被期望在人生不同阶段支持并照顾年迈的父母。</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原则</a:t>
            </a:r>
            <a:r>
              <a:rPr lang="en-US" kern="100" dirty="0">
                <a:effectLst/>
                <a:latin typeface="Times New Roman" panose="02020603050405020304" pitchFamily="18" charset="0"/>
                <a:ea typeface="SimSun" panose="02010600030101010101" pitchFamily="2" charset="-122"/>
                <a:cs typeface="Arial" panose="020B0604020202020204" pitchFamily="34" charset="0"/>
              </a:rPr>
              <a:t> 3</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：在这一情境中，中国人往往会避免公开顶撞父母或让父母失面子；分歧应以平和、私下的方式处理。</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52071992"/>
      </p:ext>
    </p:extLst>
  </p:cSld>
  <p:clrMapOvr>
    <a:masterClrMapping/>
  </p:clrMapOvr>
  <mc:AlternateContent xmlns:mc="http://schemas.openxmlformats.org/markup-compatibility/2006" xmlns:p14="http://schemas.microsoft.com/office/powerpoint/2010/main">
    <mc:Choice Requires="p14">
      <p:transition spd="slow" p14:dur="2000" advTm="136022"/>
    </mc:Choice>
    <mc:Fallback xmlns="">
      <p:transition spd="slow" advTm="13602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ABA31-1FCF-A753-63B6-6C38AB5663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38A68B-7377-6FCE-BA33-A98A82712EBF}"/>
              </a:ext>
            </a:extLst>
          </p:cNvPr>
          <p:cNvSpPr txBox="1"/>
          <p:nvPr/>
        </p:nvSpPr>
        <p:spPr>
          <a:xfrm>
            <a:off x="994228" y="1510025"/>
            <a:ext cx="6096000" cy="2759089"/>
          </a:xfrm>
          <a:prstGeom prst="rect">
            <a:avLst/>
          </a:prstGeom>
          <a:noFill/>
        </p:spPr>
        <p:txBody>
          <a:bodyPr wrap="square">
            <a:spAutoFit/>
          </a:bodyPr>
          <a:lstStyle/>
          <a:p>
            <a:pPr>
              <a:lnSpc>
                <a:spcPct val="107000"/>
              </a:lnSpc>
              <a:spcAft>
                <a:spcPts val="800"/>
              </a:spcAft>
              <a:buNone/>
            </a:pP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步骤</a:t>
            </a:r>
            <a:r>
              <a:rPr lang="en-US" sz="2000" b="1" kern="100" dirty="0">
                <a:effectLst/>
                <a:latin typeface="Times New Roman" panose="02020603050405020304" pitchFamily="18" charset="0"/>
                <a:ea typeface="SimSun" panose="02010600030101010101" pitchFamily="2" charset="-122"/>
                <a:cs typeface="Arial" panose="020B0604020202020204" pitchFamily="34" charset="0"/>
              </a:rPr>
              <a:t> 3</a:t>
            </a: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：选择任务类型来创建价值观相关的问题</a:t>
            </a:r>
            <a:endParaRPr lang="en-US" altLang="zh-CN" sz="2000" b="1"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endParaRPr lang="en-US" altLang="zh-CN" kern="100" dirty="0">
              <a:latin typeface="SimSun" panose="02010600030101010101" pitchFamily="2" charset="-122"/>
              <a:ea typeface="SimSun" panose="02010600030101010101" pitchFamily="2" charset="-122"/>
              <a:cs typeface="Arial" panose="020B0604020202020204" pitchFamily="34" charset="0"/>
            </a:endParaRPr>
          </a:p>
          <a:p>
            <a:pPr>
              <a:lnSpc>
                <a:spcPct val="107000"/>
              </a:lnSpc>
              <a:spcAft>
                <a:spcPts val="800"/>
              </a:spcAft>
              <a:buNone/>
            </a:pPr>
            <a:r>
              <a:rPr lang="zh-CN" altLang="en-US" kern="100" dirty="0">
                <a:latin typeface="SimSun" panose="02010600030101010101" pitchFamily="2" charset="-122"/>
                <a:ea typeface="SimSun" panose="02010600030101010101" pitchFamily="2" charset="-122"/>
                <a:cs typeface="Arial" panose="020B0604020202020204" pitchFamily="34" charset="0"/>
              </a:rPr>
              <a:t>针对当前选定的话题，选择相应的任务类型</a:t>
            </a:r>
            <a:endParaRPr lang="en-US" kern="100" dirty="0">
              <a:effectLst/>
              <a:latin typeface="SimSun" panose="02010600030101010101" pitchFamily="2" charset="-122"/>
              <a:ea typeface="SimSun" panose="02010600030101010101" pitchFamily="2" charset="-122"/>
              <a:cs typeface="Arial" panose="020B0604020202020204" pitchFamily="34" charset="0"/>
            </a:endParaRPr>
          </a:p>
          <a:p>
            <a:pPr marL="342900" lvl="0" indent="-342900">
              <a:lnSpc>
                <a:spcPct val="107000"/>
              </a:lnSpc>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这一任务类型在现实生活情境中会出现</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spcAft>
                <a:spcPts val="800"/>
              </a:spcAft>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能够在该主题下引发基于价值观的思考</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endParaRPr lang="en-US" altLang="zh-CN" sz="2000" b="1" kern="100" dirty="0">
              <a:solidFill>
                <a:srgbClr val="EE0000"/>
              </a:solidFill>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r>
              <a:rPr lang="zh-CN" sz="2000" b="1" kern="100" dirty="0">
                <a:solidFill>
                  <a:srgbClr val="EE0000"/>
                </a:solidFill>
                <a:effectLst/>
                <a:latin typeface="Times New Roman" panose="02020603050405020304" pitchFamily="18" charset="0"/>
                <a:ea typeface="SimSun" panose="02010600030101010101" pitchFamily="2" charset="-122"/>
                <a:cs typeface="Times New Roman" panose="02020603050405020304" pitchFamily="18" charset="0"/>
              </a:rPr>
              <a:t>注意：每种任务类型最多只能使用两次。</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2335791967"/>
      </p:ext>
    </p:extLst>
  </p:cSld>
  <p:clrMapOvr>
    <a:masterClrMapping/>
  </p:clrMapOvr>
  <mc:AlternateContent xmlns:mc="http://schemas.openxmlformats.org/markup-compatibility/2006" xmlns:p14="http://schemas.microsoft.com/office/powerpoint/2010/main">
    <mc:Choice Requires="p14">
      <p:transition spd="slow" p14:dur="2000" advTm="29210"/>
    </mc:Choice>
    <mc:Fallback xmlns="">
      <p:transition spd="slow" advTm="2921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7C499-D580-12E0-5D02-9F5EBEE2A6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E74743-0CAE-BDE6-666F-BF3150C67029}"/>
              </a:ext>
            </a:extLst>
          </p:cNvPr>
          <p:cNvSpPr txBox="1"/>
          <p:nvPr/>
        </p:nvSpPr>
        <p:spPr>
          <a:xfrm>
            <a:off x="560615" y="533585"/>
            <a:ext cx="10383157" cy="5933612"/>
          </a:xfrm>
          <a:prstGeom prst="rect">
            <a:avLst/>
          </a:prstGeom>
          <a:noFill/>
        </p:spPr>
        <p:txBody>
          <a:bodyPr wrap="square">
            <a:spAutoFit/>
          </a:bodyPr>
          <a:lstStyle/>
          <a:p>
            <a:pPr>
              <a:lnSpc>
                <a:spcPct val="107000"/>
              </a:lnSpc>
              <a:spcAft>
                <a:spcPts val="800"/>
              </a:spcAft>
              <a:buNone/>
            </a:pPr>
            <a:r>
              <a:rPr lang="zh-CN" sz="1800" b="1" kern="100" dirty="0">
                <a:effectLst/>
                <a:latin typeface="Times New Roman" panose="02020603050405020304" pitchFamily="18" charset="0"/>
                <a:ea typeface="SimSun" panose="02010600030101010101" pitchFamily="2" charset="-122"/>
                <a:cs typeface="Times New Roman" panose="02020603050405020304" pitchFamily="18" charset="0"/>
              </a:rPr>
              <a:t>步骤</a:t>
            </a:r>
            <a:r>
              <a:rPr lang="en-US" sz="1800" b="1" kern="100" dirty="0">
                <a:effectLst/>
                <a:latin typeface="Times New Roman" panose="02020603050405020304" pitchFamily="18" charset="0"/>
                <a:ea typeface="SimSun" panose="02010600030101010101" pitchFamily="2" charset="-122"/>
                <a:cs typeface="Arial" panose="020B0604020202020204" pitchFamily="34" charset="0"/>
              </a:rPr>
              <a:t> 4</a:t>
            </a:r>
            <a:r>
              <a:rPr lang="zh-CN" sz="1800" b="1" kern="100" dirty="0">
                <a:effectLst/>
                <a:latin typeface="Times New Roman" panose="02020603050405020304" pitchFamily="18" charset="0"/>
                <a:ea typeface="SimSun" panose="02010600030101010101" pitchFamily="2" charset="-122"/>
                <a:cs typeface="Times New Roman" panose="02020603050405020304" pitchFamily="18" charset="0"/>
              </a:rPr>
              <a:t>：创建或选择一个价值观相关的问题</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在这一步中，你需要</a:t>
            </a:r>
            <a:r>
              <a:rPr lang="zh-CN" sz="1800" b="1" kern="100" dirty="0">
                <a:effectLst/>
                <a:latin typeface="Times New Roman" panose="02020603050405020304" pitchFamily="18" charset="0"/>
                <a:ea typeface="SimSun" panose="02010600030101010101" pitchFamily="2" charset="-122"/>
                <a:cs typeface="Times New Roman" panose="02020603050405020304" pitchFamily="18" charset="0"/>
              </a:rPr>
              <a:t>确定一个问题</a:t>
            </a: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，你可以：</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从候选问题中选择一个</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对候选问题进行修改，使其更能反映文化价值观</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spcAft>
                <a:spcPts val="800"/>
              </a:spcAft>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新建一个与文化价值观相关的问题</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对于每个问题，平台会提供以下信息：</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Times New Roman" panose="02020603050405020304" pitchFamily="18" charset="0"/>
              <a:buChar char="-"/>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重要性评分</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kern="100" dirty="0">
                <a:effectLst/>
                <a:latin typeface="Times New Roman" panose="02020603050405020304" pitchFamily="18" charset="0"/>
                <a:ea typeface="SimSun" panose="02010600030101010101" pitchFamily="2" charset="-122"/>
                <a:cs typeface="Arial" panose="020B0604020202020204" pitchFamily="34" charset="0"/>
              </a:rPr>
              <a:t>1–5</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）：该问题与文化价值观的相关程度有多高。</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Times New Roman" panose="02020603050405020304" pitchFamily="18" charset="0"/>
              <a:buChar char="-"/>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独特性评分</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kern="100" dirty="0">
                <a:effectLst/>
                <a:latin typeface="Times New Roman" panose="02020603050405020304" pitchFamily="18" charset="0"/>
                <a:ea typeface="SimSun" panose="02010600030101010101" pitchFamily="2" charset="-122"/>
                <a:cs typeface="Arial" panose="020B0604020202020204" pitchFamily="34" charset="0"/>
              </a:rPr>
              <a:t>1–5</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）：与其他文化相比，该问题涉及的价值观对目标文化有多特殊？</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spcAft>
                <a:spcPts val="800"/>
              </a:spcAft>
              <a:buFont typeface="Times New Roman" panose="02020603050405020304" pitchFamily="18" charset="0"/>
              <a:buChar char="-"/>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现实性评分</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kern="100" dirty="0">
                <a:effectLst/>
                <a:latin typeface="Times New Roman" panose="02020603050405020304" pitchFamily="18" charset="0"/>
                <a:ea typeface="SimSun" panose="02010600030101010101" pitchFamily="2" charset="-122"/>
                <a:cs typeface="Arial" panose="020B0604020202020204" pitchFamily="34" charset="0"/>
              </a:rPr>
              <a:t>1–5</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）：该问题在你的文化中，是否会自然地出现在人们的日常生活或实际的</a:t>
            </a:r>
            <a:r>
              <a:rPr lang="en-US" kern="100" dirty="0">
                <a:effectLst/>
                <a:latin typeface="Times New Roman" panose="02020603050405020304" pitchFamily="18" charset="0"/>
                <a:ea typeface="SimSun" panose="02010600030101010101" pitchFamily="2" charset="-122"/>
                <a:cs typeface="Arial" panose="020B0604020202020204" pitchFamily="34" charset="0"/>
              </a:rPr>
              <a:t> LLM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使用场景中？</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注意：当前分数由</a:t>
            </a:r>
            <a:r>
              <a:rPr lang="en-US" sz="1800" kern="100" dirty="0">
                <a:effectLst/>
                <a:latin typeface="Times New Roman" panose="02020603050405020304" pitchFamily="18" charset="0"/>
                <a:ea typeface="SimSun" panose="02010600030101010101" pitchFamily="2" charset="-122"/>
                <a:cs typeface="Arial" panose="020B0604020202020204" pitchFamily="34" charset="0"/>
              </a:rPr>
              <a:t> AI </a:t>
            </a: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自动估计，仅供参考。标注者可以选择自己认为这些分数较高的问题，并相应修改评分。</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请优先选择或创建满足以下条件的问题：</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在重要性、独特性和现实性三项上得分都较高。</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buFont typeface="Times New Roman" panose="02020603050405020304" pitchFamily="18" charset="0"/>
              <a:buChar char="-"/>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所有分数都应</a:t>
            </a:r>
            <a:r>
              <a:rPr lang="en-US" b="1" kern="100" dirty="0">
                <a:effectLst/>
                <a:latin typeface="Times New Roman" panose="02020603050405020304" pitchFamily="18" charset="0"/>
                <a:ea typeface="SimSun" panose="02010600030101010101" pitchFamily="2" charset="-122"/>
                <a:cs typeface="Arial" panose="020B0604020202020204" pitchFamily="34" charset="0"/>
              </a:rPr>
              <a:t> ≥ 3</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，且至少有两项应</a:t>
            </a:r>
            <a:r>
              <a:rPr lang="en-US" b="1" kern="100" dirty="0">
                <a:effectLst/>
                <a:latin typeface="Times New Roman" panose="02020603050405020304" pitchFamily="18" charset="0"/>
                <a:ea typeface="SimSun" panose="02010600030101010101" pitchFamily="2" charset="-122"/>
                <a:cs typeface="Arial" panose="020B0604020202020204" pitchFamily="34" charset="0"/>
              </a:rPr>
              <a:t> ≥ 4</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marL="800100" lvl="1" indent="-342900">
              <a:lnSpc>
                <a:spcPct val="107000"/>
              </a:lnSpc>
              <a:spcAft>
                <a:spcPts val="800"/>
              </a:spcAft>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对于修改或新建的问题，请自行从这三个维度进行评分，并确保问题满足上述要求。</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sz="1800" kern="100" dirty="0">
                <a:effectLst/>
                <a:latin typeface="Times New Roman" panose="02020603050405020304" pitchFamily="18" charset="0"/>
                <a:ea typeface="SimSun" panose="02010600030101010101" pitchFamily="2" charset="-122"/>
                <a:cs typeface="Times New Roman" panose="02020603050405020304" pitchFamily="18" charset="0"/>
              </a:rPr>
              <a:t>你必须覆盖并</a:t>
            </a:r>
            <a:r>
              <a:rPr lang="zh-CN" sz="1800" b="1" kern="100" dirty="0">
                <a:effectLst/>
                <a:latin typeface="Times New Roman" panose="02020603050405020304" pitchFamily="18" charset="0"/>
                <a:ea typeface="SimSun" panose="02010600030101010101" pitchFamily="2" charset="-122"/>
                <a:cs typeface="Times New Roman" panose="02020603050405020304" pitchFamily="18" charset="0"/>
              </a:rPr>
              <a:t>平衡使用三种问题类型：选择、修改、新建。不要只使用其中一种类型。</a:t>
            </a:r>
            <a:endParaRPr lang="en-US" sz="1600" kern="100" dirty="0">
              <a:effectLst/>
              <a:latin typeface="Calibri" panose="020F050202020403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2988827604"/>
      </p:ext>
    </p:extLst>
  </p:cSld>
  <p:clrMapOvr>
    <a:masterClrMapping/>
  </p:clrMapOvr>
  <mc:AlternateContent xmlns:mc="http://schemas.openxmlformats.org/markup-compatibility/2006" xmlns:p14="http://schemas.microsoft.com/office/powerpoint/2010/main">
    <mc:Choice Requires="p14">
      <p:transition spd="slow" p14:dur="2000" advTm="89751"/>
    </mc:Choice>
    <mc:Fallback xmlns="">
      <p:transition spd="slow" advTm="8975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16ADC-A437-C1D1-F5F0-0C384B1110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4F02CD-DA46-F9B5-3825-613A1E4D5013}"/>
              </a:ext>
            </a:extLst>
          </p:cNvPr>
          <p:cNvSpPr txBox="1"/>
          <p:nvPr/>
        </p:nvSpPr>
        <p:spPr>
          <a:xfrm>
            <a:off x="435428" y="379027"/>
            <a:ext cx="11132457" cy="6321154"/>
          </a:xfrm>
          <a:prstGeom prst="rect">
            <a:avLst/>
          </a:prstGeom>
          <a:noFill/>
        </p:spPr>
        <p:txBody>
          <a:bodyPr wrap="square">
            <a:spAutoFit/>
          </a:bodyPr>
          <a:lstStyle/>
          <a:p>
            <a:pPr>
              <a:lnSpc>
                <a:spcPct val="107000"/>
              </a:lnSpc>
              <a:spcAft>
                <a:spcPts val="800"/>
              </a:spcAft>
              <a:buNone/>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步骤</a:t>
            </a:r>
            <a:r>
              <a:rPr lang="en-US" b="1" kern="100" dirty="0">
                <a:effectLst/>
                <a:latin typeface="Times New Roman" panose="02020603050405020304" pitchFamily="18" charset="0"/>
                <a:ea typeface="SimSun" panose="02010600030101010101" pitchFamily="2" charset="-122"/>
                <a:cs typeface="Arial" panose="020B0604020202020204" pitchFamily="34" charset="0"/>
              </a:rPr>
              <a:t> 5</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：文化视角答案标注</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对于问题，平台会提供一个初始回答。系统会将回答拆分为若干片段，并识别其中体现的价值观。你需要审阅该回答，并将其调整为符合文化价值观的回复。</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首先，请逐条审阅每个片段，并按以下两步进行标注：</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mj-lt"/>
              <a:buAutoNum type="arabi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检查价值观：判断标注出的价值观是否符合在该情境下你的文化所追求的价值取向，然后决定：</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742950" lvl="1" indent="-285750">
              <a:lnSpc>
                <a:spcPct val="107000"/>
              </a:lnSpc>
              <a:buFont typeface="+mj-lt"/>
              <a:buAutoNum type="alphaL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完全正确，保留</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742950" lvl="1" indent="-285750">
              <a:lnSpc>
                <a:spcPct val="107000"/>
              </a:lnSpc>
              <a:buFont typeface="+mj-lt"/>
              <a:buAutoNum type="alphaL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无关或错误，删除</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742950" lvl="1" indent="-285750">
              <a:lnSpc>
                <a:spcPct val="107000"/>
              </a:lnSpc>
              <a:buFont typeface="+mj-lt"/>
              <a:buAutoNum type="alphaL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部分不一致，或有缺失，修改</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mj-lt"/>
              <a:buAutoNum type="arabi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检查文本：根据上一步确定</a:t>
            </a:r>
            <a:r>
              <a:rPr lang="en-US" kern="100" dirty="0">
                <a:effectLst/>
                <a:latin typeface="Times New Roman" panose="02020603050405020304" pitchFamily="18" charset="0"/>
                <a:ea typeface="SimSun" panose="02010600030101010101" pitchFamily="2" charset="-122"/>
                <a:cs typeface="Arial" panose="020B0604020202020204" pitchFamily="34" charset="0"/>
              </a:rPr>
              <a:t>/</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修改的价值观，判断（</a:t>
            </a:r>
            <a:r>
              <a:rPr lang="en-US" kern="100" dirty="0" err="1">
                <a:effectLst/>
                <a:latin typeface="Times New Roman" panose="02020603050405020304" pitchFamily="18" charset="0"/>
                <a:ea typeface="SimSun" panose="02010600030101010101" pitchFamily="2" charset="-122"/>
                <a:cs typeface="Arial" panose="020B0604020202020204" pitchFamily="34" charset="0"/>
              </a:rPr>
              <a:t>i</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）文本是否反映了这些价值观？</a:t>
            </a:r>
            <a:r>
              <a:rPr lang="en-US" kern="100" dirty="0">
                <a:effectLst/>
                <a:latin typeface="Times New Roman" panose="02020603050405020304" pitchFamily="18" charset="0"/>
                <a:ea typeface="SimSun" panose="02010600030101010101" pitchFamily="2" charset="-122"/>
                <a:cs typeface="Arial" panose="020B0604020202020204" pitchFamily="34" charset="0"/>
              </a:rPr>
              <a:t>(ii)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文本是否符合你文化中普遍的看法、观点和行为实践？然后决定：</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742950" lvl="1" indent="-285750">
              <a:lnSpc>
                <a:spcPct val="107000"/>
              </a:lnSpc>
              <a:buFont typeface="+mj-lt"/>
              <a:buAutoNum type="alphaL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完全符合价值观和文化实践，保留</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742950" lvl="1" indent="-285750">
              <a:lnSpc>
                <a:spcPct val="107000"/>
              </a:lnSpc>
              <a:buFont typeface="+mj-lt"/>
              <a:buAutoNum type="alphaL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完全不符合，修改</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742950" lvl="1" indent="-285750">
              <a:lnSpc>
                <a:spcPct val="107000"/>
              </a:lnSpc>
              <a:spcAft>
                <a:spcPts val="800"/>
              </a:spcAft>
              <a:buFont typeface="+mj-lt"/>
              <a:buAutoNum type="alphaL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部分内容与价值观或文化实践不一致，或存在缺失，修改。</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在审阅完所有片段之后，请从整体上反思整条回答，检查是否遗漏了某些重要的文化价值观。可从以下两个角度检查：</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mj-lt"/>
              <a:buAutoNum type="arabicParenBoth"/>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问题中的某些核心点是否没有得到充分回应？</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spcAft>
                <a:spcPts val="800"/>
              </a:spcAft>
              <a:buFont typeface="+mj-lt"/>
              <a:buAutoNum type="arabicParenBoth"/>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在这一情境中通常会被强调的文化价值观是否缺失？</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如果存在上述任一问题，请点击</a:t>
            </a:r>
            <a:r>
              <a:rPr lang="en-US" kern="100" dirty="0">
                <a:effectLst/>
                <a:latin typeface="Times New Roman" panose="02020603050405020304" pitchFamily="18" charset="0"/>
                <a:ea typeface="SimSun" panose="02010600030101010101" pitchFamily="2" charset="-122"/>
                <a:cs typeface="Arial" panose="020B0604020202020204" pitchFamily="34" charset="0"/>
              </a:rPr>
              <a:t> “Add New” </a:t>
            </a:r>
            <a:r>
              <a:rPr lang="zh-CN" kern="100" dirty="0">
                <a:solidFill>
                  <a:srgbClr val="000000"/>
                </a:solidFill>
                <a:effectLst/>
                <a:latin typeface="Calibri" panose="020F0502020204030204" pitchFamily="34" charset="0"/>
                <a:ea typeface="SimSun" panose="02010600030101010101" pitchFamily="2" charset="-122"/>
                <a:cs typeface="Arial" panose="020B0604020202020204" pitchFamily="34" charset="0"/>
              </a:rPr>
              <a:t>给出遗漏的价值观，再基于价值观补充相应的文本片段，片段要求符合文化的行为、观点看法。</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711621296"/>
      </p:ext>
    </p:extLst>
  </p:cSld>
  <p:clrMapOvr>
    <a:masterClrMapping/>
  </p:clrMapOvr>
  <mc:AlternateContent xmlns:mc="http://schemas.openxmlformats.org/markup-compatibility/2006" xmlns:p14="http://schemas.microsoft.com/office/powerpoint/2010/main">
    <mc:Choice Requires="p14">
      <p:transition spd="slow" p14:dur="2000" advTm="136301"/>
    </mc:Choice>
    <mc:Fallback xmlns="">
      <p:transition spd="slow" advTm="13630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4195-A388-A10B-7C4C-97B11B3B5BF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050FAB7-AFDD-8AFD-BA66-19D8BA5A86C5}"/>
              </a:ext>
            </a:extLst>
          </p:cNvPr>
          <p:cNvSpPr txBox="1"/>
          <p:nvPr/>
        </p:nvSpPr>
        <p:spPr>
          <a:xfrm>
            <a:off x="573313" y="598715"/>
            <a:ext cx="11263087" cy="5238293"/>
          </a:xfrm>
          <a:prstGeom prst="rect">
            <a:avLst/>
          </a:prstGeom>
          <a:noFill/>
        </p:spPr>
        <p:txBody>
          <a:bodyPr wrap="square">
            <a:spAutoFit/>
          </a:bodyPr>
          <a:lstStyle/>
          <a:p>
            <a:pPr>
              <a:lnSpc>
                <a:spcPct val="107000"/>
              </a:lnSpc>
              <a:spcAft>
                <a:spcPts val="800"/>
              </a:spcAft>
              <a:buNone/>
            </a:pPr>
            <a:r>
              <a:rPr lang="zh-CN" altLang="en-US" b="1" kern="100" dirty="0">
                <a:latin typeface="Times New Roman" panose="02020603050405020304" pitchFamily="18" charset="0"/>
                <a:ea typeface="SimSun" panose="02010600030101010101" pitchFamily="2" charset="-122"/>
                <a:cs typeface="Times New Roman" panose="02020603050405020304" pitchFamily="18" charset="0"/>
              </a:rPr>
              <a:t>步骤</a:t>
            </a:r>
            <a:r>
              <a:rPr lang="en-US" b="1" kern="100" dirty="0">
                <a:latin typeface="Times New Roman" panose="02020603050405020304" pitchFamily="18" charset="0"/>
                <a:ea typeface="SimSun" panose="02010600030101010101" pitchFamily="2" charset="-122"/>
                <a:cs typeface="Arial" panose="020B0604020202020204" pitchFamily="34" charset="0"/>
              </a:rPr>
              <a:t> 5</a:t>
            </a:r>
            <a:r>
              <a:rPr lang="zh-CN" altLang="en-US" b="1" kern="100" dirty="0">
                <a:latin typeface="Times New Roman" panose="02020603050405020304" pitchFamily="18" charset="0"/>
                <a:ea typeface="SimSun" panose="02010600030101010101" pitchFamily="2" charset="-122"/>
                <a:cs typeface="Times New Roman" panose="02020603050405020304" pitchFamily="18" charset="0"/>
              </a:rPr>
              <a:t>：文化视角答案标注</a:t>
            </a:r>
            <a:endParaRPr lang="en-US" altLang="zh-CN" b="1"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重要规则</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mj-lt"/>
              <a:buAutoNum type="arabi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对于每一个待审阅的文本片段：</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742950" lvl="1" indent="-285750">
              <a:lnSpc>
                <a:spcPct val="107000"/>
              </a:lnSpc>
              <a:buFont typeface="+mj-lt"/>
              <a:buAutoNum type="alphaL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如果你修改了价值观，必须检查文本是否一致，并在需要时同步修改文本。</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742950" lvl="1" indent="-285750">
              <a:lnSpc>
                <a:spcPct val="107000"/>
              </a:lnSpc>
              <a:buFont typeface="+mj-lt"/>
              <a:buAutoNum type="alphaL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即使你保留了价值观不变，也必须检查文本是否与这些价值观或文化行为实践不一致；如果不一致，也应相应修改文本。</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spcAft>
                <a:spcPts val="800"/>
              </a:spcAft>
              <a:buFont typeface="+mj-lt"/>
              <a:buAutoNum type="arabicPeriod"/>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请</a:t>
            </a:r>
            <a:r>
              <a:rPr lang="zh-CN" kern="100" dirty="0">
                <a:solidFill>
                  <a:srgbClr val="000000"/>
                </a:solidFill>
                <a:effectLst/>
                <a:latin typeface="Calibri" panose="020F0502020204030204" pitchFamily="34" charset="0"/>
                <a:ea typeface="SimSun" panose="02010600030101010101" pitchFamily="2" charset="-122"/>
                <a:cs typeface="Arial" panose="020B0604020202020204" pitchFamily="34" charset="0"/>
              </a:rPr>
              <a:t>重点关注“价值观”和“文本片段中体现价值观的行为、观点、看法”是否符合文化背景下大部分人的期望。请忽略其他非价值观导致的差异，比如：语言表达风格（口语化或书面化、正式或随意等），文本格式与结构（是否分段、标点规范等），内容长短等</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。这些问题不在本次标注范围内。</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en-US" b="1" kern="100" dirty="0">
                <a:solidFill>
                  <a:srgbClr val="EE0000"/>
                </a:solidFill>
                <a:effectLst/>
                <a:latin typeface="Times New Roman" panose="02020603050405020304" pitchFamily="18" charset="0"/>
                <a:ea typeface="SimSun" panose="02010600030101010101" pitchFamily="2" charset="-122"/>
                <a:cs typeface="Arial" panose="020B0604020202020204" pitchFamily="34" charset="0"/>
              </a:rPr>
              <a:t> </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步骤</a:t>
            </a:r>
            <a:r>
              <a:rPr lang="en-US" b="1" kern="100" dirty="0">
                <a:effectLst/>
                <a:latin typeface="Times New Roman" panose="02020603050405020304" pitchFamily="18" charset="0"/>
                <a:ea typeface="SimSun" panose="02010600030101010101" pitchFamily="2" charset="-122"/>
                <a:cs typeface="Arial" panose="020B0604020202020204" pitchFamily="34" charset="0"/>
              </a:rPr>
              <a:t> 6</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：个人视角答案标注（流程与步骤</a:t>
            </a:r>
            <a:r>
              <a:rPr lang="en-US" b="1" kern="100" dirty="0">
                <a:effectLst/>
                <a:latin typeface="Times New Roman" panose="02020603050405020304" pitchFamily="18" charset="0"/>
                <a:ea typeface="SimSun" panose="02010600030101010101" pitchFamily="2" charset="-122"/>
                <a:cs typeface="Arial" panose="020B0604020202020204" pitchFamily="34" charset="0"/>
              </a:rPr>
              <a:t> 5 </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相同）</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重复步骤</a:t>
            </a:r>
            <a:r>
              <a:rPr lang="en-US" kern="100" dirty="0">
                <a:effectLst/>
                <a:latin typeface="Times New Roman" panose="02020603050405020304" pitchFamily="18" charset="0"/>
                <a:ea typeface="SimSun" panose="02010600030101010101" pitchFamily="2" charset="-122"/>
                <a:cs typeface="Arial" panose="020B0604020202020204" pitchFamily="34" charset="0"/>
              </a:rPr>
              <a:t> 5 </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的流程，但这一次请依据</a:t>
            </a:r>
            <a:r>
              <a:rPr lang="zh-CN" b="1" kern="100" dirty="0">
                <a:effectLst/>
                <a:latin typeface="Times New Roman" panose="02020603050405020304" pitchFamily="18" charset="0"/>
                <a:ea typeface="SimSun" panose="02010600030101010101" pitchFamily="2" charset="-122"/>
                <a:cs typeface="Times New Roman" panose="02020603050405020304" pitchFamily="18" charset="0"/>
              </a:rPr>
              <a:t>你自己的个人价值观</a:t>
            </a: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进行标注。</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你的标注应基于：</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这些价值观和文本是否与你自己的个人价值观及行为方式一致。</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marL="342900" lvl="0" indent="-342900">
              <a:lnSpc>
                <a:spcPct val="107000"/>
              </a:lnSpc>
              <a:spcAft>
                <a:spcPts val="800"/>
              </a:spcAft>
              <a:buFont typeface="Times New Roman" panose="02020603050405020304" pitchFamily="18" charset="0"/>
              <a:buChar char="-"/>
            </a:pPr>
            <a:r>
              <a:rPr lang="zh-CN" kern="100" dirty="0">
                <a:effectLst/>
                <a:latin typeface="Times New Roman" panose="02020603050405020304" pitchFamily="18" charset="0"/>
                <a:ea typeface="SimSun" panose="02010600030101010101" pitchFamily="2" charset="-122"/>
                <a:cs typeface="Times New Roman" panose="02020603050405020304" pitchFamily="18" charset="0"/>
              </a:rPr>
              <a:t>而不是你所在文化中的主流价值观。</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362065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618BD-3FA1-C47E-7725-CA629FE8A2C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C74C5A-B057-67BC-DEC9-234B284AF992}"/>
              </a:ext>
            </a:extLst>
          </p:cNvPr>
          <p:cNvSpPr txBox="1"/>
          <p:nvPr/>
        </p:nvSpPr>
        <p:spPr>
          <a:xfrm>
            <a:off x="2155370" y="1596968"/>
            <a:ext cx="8382001" cy="2528641"/>
          </a:xfrm>
          <a:prstGeom prst="rect">
            <a:avLst/>
          </a:prstGeom>
          <a:noFill/>
        </p:spPr>
        <p:txBody>
          <a:bodyPr wrap="square">
            <a:spAutoFit/>
          </a:bodyPr>
          <a:lstStyle/>
          <a:p>
            <a:pPr>
              <a:lnSpc>
                <a:spcPct val="107000"/>
              </a:lnSpc>
              <a:spcAft>
                <a:spcPts val="800"/>
              </a:spcAft>
              <a:buNone/>
            </a:pP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步骤</a:t>
            </a:r>
            <a:r>
              <a:rPr lang="en-US" sz="2000" b="1" kern="100" dirty="0">
                <a:effectLst/>
                <a:latin typeface="Times New Roman" panose="02020603050405020304" pitchFamily="18" charset="0"/>
                <a:ea typeface="SimSun" panose="02010600030101010101" pitchFamily="2" charset="-122"/>
                <a:cs typeface="Arial" panose="020B0604020202020204" pitchFamily="34" charset="0"/>
              </a:rPr>
              <a:t> 7</a:t>
            </a:r>
            <a:r>
              <a:rPr lang="zh-CN" sz="2000" b="1" kern="100" dirty="0">
                <a:effectLst/>
                <a:latin typeface="Times New Roman" panose="02020603050405020304" pitchFamily="18" charset="0"/>
                <a:ea typeface="SimSun" panose="02010600030101010101" pitchFamily="2" charset="-122"/>
                <a:cs typeface="Times New Roman" panose="02020603050405020304" pitchFamily="18" charset="0"/>
              </a:rPr>
              <a:t>：提交并继续</a:t>
            </a:r>
            <a:endParaRPr lang="en-US" altLang="zh-CN" sz="2000" b="1"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点击</a:t>
            </a:r>
            <a:r>
              <a:rPr lang="en-US" sz="2000" kern="100" dirty="0">
                <a:effectLst/>
                <a:latin typeface="Times New Roman" panose="02020603050405020304" pitchFamily="18" charset="0"/>
                <a:ea typeface="SimSun" panose="02010600030101010101" pitchFamily="2" charset="-122"/>
                <a:cs typeface="Arial" panose="020B0604020202020204" pitchFamily="34" charset="0"/>
              </a:rPr>
              <a:t> “Submit”</a:t>
            </a: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，跳转到个人完成的标注数据列表。</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点击</a:t>
            </a:r>
            <a:r>
              <a:rPr lang="en-US" sz="2000" kern="100" dirty="0">
                <a:effectLst/>
                <a:latin typeface="Times New Roman" panose="02020603050405020304" pitchFamily="18" charset="0"/>
                <a:ea typeface="SimSun" panose="02010600030101010101" pitchFamily="2" charset="-122"/>
                <a:cs typeface="Arial" panose="020B0604020202020204" pitchFamily="34" charset="0"/>
              </a:rPr>
              <a:t> “Create New” </a:t>
            </a: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继续标注下一条数据。</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a:p>
            <a:pPr>
              <a:lnSpc>
                <a:spcPct val="107000"/>
              </a:lnSpc>
              <a:spcAft>
                <a:spcPts val="800"/>
              </a:spcAft>
              <a:buNone/>
            </a:pPr>
            <a:endParaRPr lang="en-US" altLang="zh-CN" sz="20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07000"/>
              </a:lnSpc>
              <a:spcAft>
                <a:spcPts val="800"/>
              </a:spcAft>
              <a:buNone/>
            </a:pP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每位标注者至少需要完成</a:t>
            </a:r>
            <a:r>
              <a:rPr lang="en-US" sz="2000" kern="100" dirty="0">
                <a:effectLst/>
                <a:latin typeface="Times New Roman" panose="02020603050405020304" pitchFamily="18" charset="0"/>
                <a:ea typeface="SimSun" panose="02010600030101010101" pitchFamily="2" charset="-122"/>
                <a:cs typeface="Arial" panose="020B0604020202020204" pitchFamily="34" charset="0"/>
              </a:rPr>
              <a:t> 15 </a:t>
            </a:r>
            <a:r>
              <a:rPr lang="zh-CN" sz="2000" kern="100" dirty="0">
                <a:effectLst/>
                <a:latin typeface="Times New Roman" panose="02020603050405020304" pitchFamily="18" charset="0"/>
                <a:ea typeface="SimSun" panose="02010600030101010101" pitchFamily="2" charset="-122"/>
                <a:cs typeface="Times New Roman" panose="02020603050405020304" pitchFamily="18" charset="0"/>
              </a:rPr>
              <a:t>条样本。</a:t>
            </a:r>
            <a:endParaRPr lang="en-US" kern="100" dirty="0">
              <a:effectLst/>
              <a:latin typeface="Calibri" panose="020F050202020403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1545929248"/>
      </p:ext>
    </p:extLst>
  </p:cSld>
  <p:clrMapOvr>
    <a:masterClrMapping/>
  </p:clrMapOvr>
  <mc:AlternateContent xmlns:mc="http://schemas.openxmlformats.org/markup-compatibility/2006" xmlns:p14="http://schemas.microsoft.com/office/powerpoint/2010/main">
    <mc:Choice Requires="p14">
      <p:transition spd="slow" p14:dur="2000" advTm="40658"/>
    </mc:Choice>
    <mc:Fallback xmlns="">
      <p:transition spd="slow" advTm="40658"/>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1409</TotalTime>
  <Words>3566</Words>
  <Application>Microsoft Office PowerPoint</Application>
  <PresentationFormat>Widescreen</PresentationFormat>
  <Paragraphs>240</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SimSun</vt:lpstr>
      <vt:lpstr>Aptos</vt:lpstr>
      <vt:lpstr>Aptos Display</vt:lpstr>
      <vt:lpstr>Arial</vt:lpstr>
      <vt:lpstr>Calibri</vt:lpstr>
      <vt:lpstr>Segoe UI Semibold</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Jing Yao</dc:creator>
  <cp:lastModifiedBy>Jing Yao</cp:lastModifiedBy>
  <cp:revision>2</cp:revision>
  <dcterms:created xsi:type="dcterms:W3CDTF">2026-04-12T16:49:26Z</dcterms:created>
  <dcterms:modified xsi:type="dcterms:W3CDTF">2026-05-28T03:49:33Z</dcterms:modified>
</cp:coreProperties>
</file>